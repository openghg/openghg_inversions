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154afaff314e68" /><Relationship Type="http://schemas.openxmlformats.org/officeDocument/2006/relationships/extended-properties" Target="/docProps/app.xml" Id="R1219205839ce46d2" /><Relationship Type="http://schemas.openxmlformats.org/officeDocument/2006/relationships/officeDocument" Target="/ppt/presentation.xml" Id="Reb63e4bb2eac4e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253850080e453c"/>
  </p:sldMasterIdLst>
  <p:notesMasterIdLst>
    <p:notesMasterId xmlns:r="http://schemas.openxmlformats.org/officeDocument/2006/relationships" r:id="R7ec92d2868074ae3"/>
  </p:notesMasterIdLst>
  <p:sldIdLst>
    <p:sldId xmlns:r="http://schemas.openxmlformats.org/officeDocument/2006/relationships" id="256" r:id="R375ff1589eba4f2d"/>
    <p:sldId xmlns:r="http://schemas.openxmlformats.org/officeDocument/2006/relationships" id="257" r:id="R74ed7a68e303487d"/>
    <p:sldId xmlns:r="http://schemas.openxmlformats.org/officeDocument/2006/relationships" id="258" r:id="Rba8e32bb81d740b9"/>
    <p:sldId xmlns:r="http://schemas.openxmlformats.org/officeDocument/2006/relationships" id="259" r:id="R83983bf475844dbf"/>
    <p:sldId xmlns:r="http://schemas.openxmlformats.org/officeDocument/2006/relationships" id="260" r:id="Rc8a40196a2514fda"/>
    <p:sldId xmlns:r="http://schemas.openxmlformats.org/officeDocument/2006/relationships" id="261" r:id="R6c142c2796ff4a97"/>
    <p:sldId xmlns:r="http://schemas.openxmlformats.org/officeDocument/2006/relationships" id="262" r:id="R308d32a81258434e"/>
    <p:sldId xmlns:r="http://schemas.openxmlformats.org/officeDocument/2006/relationships" id="263" r:id="R5c89f5b66d914d26"/>
    <p:sldId xmlns:r="http://schemas.openxmlformats.org/officeDocument/2006/relationships" id="264" r:id="R6bcf3556df5e4722"/>
    <p:sldId xmlns:r="http://schemas.openxmlformats.org/officeDocument/2006/relationships" id="265" r:id="Rea906614da444521"/>
    <p:sldId xmlns:r="http://schemas.openxmlformats.org/officeDocument/2006/relationships" id="266" r:id="R0d7cdec97d4a44c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fb10d616cf4bf1" /><Relationship Type="http://schemas.openxmlformats.org/officeDocument/2006/relationships/slideMaster" Target="/ppt/slideMasters/slideMaster1.xml" Id="R86253850080e453c" /><Relationship Type="http://schemas.openxmlformats.org/officeDocument/2006/relationships/notesMaster" Target="/ppt/notesMasters/notesMaster1.xml" Id="R7ec92d2868074ae3" /><Relationship Type="http://schemas.openxmlformats.org/officeDocument/2006/relationships/presProps" Target="/ppt/presProps.xml" Id="Ra848ca2791d24033" /><Relationship Type="http://schemas.openxmlformats.org/officeDocument/2006/relationships/tableStyles" Target="/ppt/tableStyles.xml" Id="R53dc786e69054ad4" /><Relationship Type="http://schemas.openxmlformats.org/officeDocument/2006/relationships/slide" Target="/ppt/slides/slide1.xml" Id="R375ff1589eba4f2d" /><Relationship Type="http://schemas.openxmlformats.org/officeDocument/2006/relationships/slide" Target="/ppt/slides/slide2.xml" Id="R74ed7a68e303487d" /><Relationship Type="http://schemas.openxmlformats.org/officeDocument/2006/relationships/slide" Target="/ppt/slides/slide3.xml" Id="Rba8e32bb81d740b9" /><Relationship Type="http://schemas.openxmlformats.org/officeDocument/2006/relationships/slide" Target="/ppt/slides/slide4.xml" Id="R83983bf475844dbf" /><Relationship Type="http://schemas.openxmlformats.org/officeDocument/2006/relationships/slide" Target="/ppt/slides/slide5.xml" Id="Rc8a40196a2514fda" /><Relationship Type="http://schemas.openxmlformats.org/officeDocument/2006/relationships/slide" Target="/ppt/slides/slide6.xml" Id="R6c142c2796ff4a97" /><Relationship Type="http://schemas.openxmlformats.org/officeDocument/2006/relationships/slide" Target="/ppt/slides/slide7.xml" Id="R308d32a81258434e" /><Relationship Type="http://schemas.openxmlformats.org/officeDocument/2006/relationships/slide" Target="/ppt/slides/slide8.xml" Id="R5c89f5b66d914d26" /><Relationship Type="http://schemas.openxmlformats.org/officeDocument/2006/relationships/slide" Target="/ppt/slides/slide9.xml" Id="R6bcf3556df5e4722" /><Relationship Type="http://schemas.openxmlformats.org/officeDocument/2006/relationships/slide" Target="/ppt/slides/slide10.xml" Id="Rea906614da444521" /><Relationship Type="http://schemas.openxmlformats.org/officeDocument/2006/relationships/slide" Target="/ppt/slides/slide11.xml" Id="R0d7cdec97d4a44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8131ed02b142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01ad23a2594331" /><Relationship Type="http://schemas.openxmlformats.org/officeDocument/2006/relationships/notesMaster" Target="/ppt/notesMasters/notesMaster1.xml" Id="R617f4f1098ce48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926dfd2ac144ca" /><Relationship Type="http://schemas.openxmlformats.org/officeDocument/2006/relationships/notesMaster" Target="/ppt/notesMasters/notesMaster1.xml" Id="R548e1fff4ba843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a7b296e6344e02" /><Relationship Type="http://schemas.openxmlformats.org/officeDocument/2006/relationships/notesMaster" Target="/ppt/notesMasters/notesMaster1.xml" Id="R7dfd81bd6ace44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aac652b6704ba0" /><Relationship Type="http://schemas.openxmlformats.org/officeDocument/2006/relationships/notesMaster" Target="/ppt/notesMasters/notesMaster1.xml" Id="Rb809dcf2d5de41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d3e1a7ff534d62" /><Relationship Type="http://schemas.openxmlformats.org/officeDocument/2006/relationships/notesMaster" Target="/ppt/notesMasters/notesMaster1.xml" Id="Rb62041e7ba1148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fdf323dc9143ab" /><Relationship Type="http://schemas.openxmlformats.org/officeDocument/2006/relationships/notesMaster" Target="/ppt/notesMasters/notesMaster1.xml" Id="R480da41d6d844f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016e607bc34e26" /><Relationship Type="http://schemas.openxmlformats.org/officeDocument/2006/relationships/notesMaster" Target="/ppt/notesMasters/notesMaster1.xml" Id="Rcce2e07fbdf046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97ada8d8474906" /><Relationship Type="http://schemas.openxmlformats.org/officeDocument/2006/relationships/notesMaster" Target="/ppt/notesMasters/notesMaster1.xml" Id="R73606d35512441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cb3c5ead8c4521" /><Relationship Type="http://schemas.openxmlformats.org/officeDocument/2006/relationships/notesMaster" Target="/ppt/notesMasters/notesMaster1.xml" Id="R60ee1cb0dc9347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eedfc8b46e42b7" /><Relationship Type="http://schemas.openxmlformats.org/officeDocument/2006/relationships/notesMaster" Target="/ppt/notesMasters/notesMaster1.xml" Id="R1c74919d1f1743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b74851b5174f1a" /><Relationship Type="http://schemas.openxmlformats.org/officeDocument/2006/relationships/notesMaster" Target="/ppt/notesMasters/notesMaster1.xml" Id="R6b51cb91afad40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5a83826d2544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fb710ca5994fa3" /><Relationship Type="http://schemas.openxmlformats.org/officeDocument/2006/relationships/slideLayout" Target="/ppt/slideLayouts/slideLayout1.xml" Id="R8cf95c3e7e0044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f95c3e7e0044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ed4a9caa94f27" /><Relationship Type="http://schemas.openxmlformats.org/officeDocument/2006/relationships/notesSlide" Target="/ppt/notesSlides/notesSlide1.xml" Id="R33995d140c904c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8387fc67d4284" /><Relationship Type="http://schemas.openxmlformats.org/officeDocument/2006/relationships/notesSlide" Target="/ppt/notesSlides/notesSlide2.xml" Id="Rc00288f98d4544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d352f59d044a4" /><Relationship Type="http://schemas.openxmlformats.org/officeDocument/2006/relationships/notesSlide" Target="/ppt/notesSlides/notesSlide3.xml" Id="Rd079d6ca571940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771490684480c" /><Relationship Type="http://schemas.openxmlformats.org/officeDocument/2006/relationships/notesSlide" Target="/ppt/notesSlides/notesSlide4.xml" Id="Rbe78079f47ab4e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2622c23384c9a" /><Relationship Type="http://schemas.openxmlformats.org/officeDocument/2006/relationships/image" Target="/ppt/media/image.png" Id="Ra8a9ca275cc041c4" /><Relationship Type="http://schemas.openxmlformats.org/officeDocument/2006/relationships/notesSlide" Target="/ppt/notesSlides/notesSlide5.xml" Id="R84d0131459ae4a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e4c1252b042ff" /><Relationship Type="http://schemas.openxmlformats.org/officeDocument/2006/relationships/notesSlide" Target="/ppt/notesSlides/notesSlide6.xml" Id="Re57081feebd14d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2cc47b424452b" /><Relationship Type="http://schemas.openxmlformats.org/officeDocument/2006/relationships/image" Target="/ppt/media/image2.png" Id="Rb6850167b17a459d" /><Relationship Type="http://schemas.openxmlformats.org/officeDocument/2006/relationships/notesSlide" Target="/ppt/notesSlides/notesSlide7.xml" Id="R92cc97352db747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10823e6f64d1b" /><Relationship Type="http://schemas.openxmlformats.org/officeDocument/2006/relationships/image" Target="/ppt/media/image3.png" Id="Ra3b9d4e26fb847b5" /><Relationship Type="http://schemas.openxmlformats.org/officeDocument/2006/relationships/notesSlide" Target="/ppt/notesSlides/notesSlide8.xml" Id="R5c2e3d3d776440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de3fe0a4e4a22" /><Relationship Type="http://schemas.openxmlformats.org/officeDocument/2006/relationships/notesSlide" Target="/ppt/notesSlides/notesSlide9.xml" Id="R4bb77773fe264a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103add2f04a8a" /><Relationship Type="http://schemas.openxmlformats.org/officeDocument/2006/relationships/notesSlide" Target="/ppt/notesSlides/notesSlide10.xml" Id="R47744ff378f349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2f3f1cd6940b0" /><Relationship Type="http://schemas.openxmlformats.org/officeDocument/2006/relationships/notesSlide" Target="/ppt/notesSlides/notesSlide11.xml" Id="R7fb4841ac66d48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9EC1DCF-0F7E-469B-97C0-7973931C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0050"/>
            <a:ext cx="609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ATMOSPHERIC INVERSION METHODS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A43A030-69E8-4BD1-B3EB-CBC8BFD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100012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96235"/>
          </a:bodyPr>
          <a:lstStyle xmlns:a="http://schemas.openxmlformats.org/drawingml/2006/main"/>
          <a:p xmlns:a="http://schemas.openxmlformats.org/drawingml/2006/main">
            <a:pPr algn="l">
              <a:defRPr sz="54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Optimising dyadic basis partitions
with stochastic local search</a:t>
            </a:r>
          </a:p>
        </p:txBody>
      </p:sp>
      <p:cxnSp>
        <p:nvCxnSpPr>
          <p:cNvPr id="8" name="cover-rule"/>
          <p:cNvCxnSpPr/>
          <p:nvPr/>
        </p:nvCxnSpPr>
        <p:spPr>
          <a:xfrm xmlns:a="http://schemas.openxmlformats.org/drawingml/2006/main">
            <a:off x="390525" y="4438650"/>
            <a:ext cx="114109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86D360B-C287-4542-8B23-C7840608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62500"/>
            <a:ext cx="666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TAC/MHD proof of concept</a:t>
            </a:r>
          </a:p>
        </p:txBody>
      </p:sp>
      <p:sp>
        <p:nvSpPr>
          <p:cNvPr id="5" name="cover-date">
            <a:extLst xmlns:a="http://schemas.openxmlformats.org/drawingml/2006/main">
              <a:ext uri="{FF2B5EF4-FFF2-40B4-BE49-F238E27FC236}">
                <a16:creationId xmlns:a16="http://schemas.microsoft.com/office/drawing/2014/main" id="{1140F853-A540-455F-B159-0C5B9C7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05450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15471301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056D05-7A6D-4849-93A6-6393A4AD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Basis partitions decide where resolution is spent</a:t>
            </a:r>
          </a:p>
        </p:txBody>
      </p:sp>
      <p:sp>
        <p:nvSpPr>
          <p:cNvPr id="2" name="motivation-claim">
            <a:extLst xmlns:a="http://schemas.openxmlformats.org/drawingml/2006/main">
              <a:ext uri="{FF2B5EF4-FFF2-40B4-BE49-F238E27FC236}">
                <a16:creationId xmlns:a16="http://schemas.microsoft.com/office/drawing/2014/main" id="{C295D746-FB3C-49F2-9B9D-74ECABA1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38275"/>
            <a:ext cx="48577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A fixed grid treats every location as equally worth resolving.</a:t>
            </a:r>
          </a:p>
        </p:txBody>
      </p:sp>
      <p:sp>
        <p:nvSpPr>
          <p:cNvPr id="3" name="motivation-body">
            <a:extLst xmlns:a="http://schemas.openxmlformats.org/drawingml/2006/main">
              <a:ext uri="{FF2B5EF4-FFF2-40B4-BE49-F238E27FC236}">
                <a16:creationId xmlns:a16="http://schemas.microsoft.com/office/drawing/2014/main" id="{5CF6C4BE-B6B9-4014-B569-2170340F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38425"/>
            <a:ext cx="48577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 data-informed partition can reserve state-vector capacity for regions where footprint–flux sensitivities support it.</a:t>
            </a:r>
          </a:p>
        </p:txBody>
      </p:sp>
      <p:sp>
        <p:nvSpPr>
          <p:cNvPr id="4" name="fixed-label">
            <a:extLst xmlns:a="http://schemas.openxmlformats.org/drawingml/2006/main">
              <a:ext uri="{FF2B5EF4-FFF2-40B4-BE49-F238E27FC236}">
                <a16:creationId xmlns:a16="http://schemas.microsoft.com/office/drawing/2014/main" id="{D74B9401-B730-4892-859C-9D26726A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362075"/>
            <a:ext cx="19526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fixed grid</a:t>
            </a:r>
          </a:p>
        </p:txBody>
      </p:sp>
      <p:sp>
        <p:nvSpPr>
          <p:cNvPr id="5" name="adaptive-label">
            <a:extLst xmlns:a="http://schemas.openxmlformats.org/drawingml/2006/main">
              <a:ext uri="{FF2B5EF4-FFF2-40B4-BE49-F238E27FC236}">
                <a16:creationId xmlns:a16="http://schemas.microsoft.com/office/drawing/2014/main" id="{09FEF958-6655-4A12-8BE1-E1A56F3C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362075"/>
            <a:ext cx="22383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adaptive partition</a:t>
            </a:r>
          </a:p>
        </p:txBody>
      </p:sp>
      <p:sp>
        <p:nvSpPr>
          <p:cNvPr id="6" name="transition-arrow">
            <a:extLst xmlns:a="http://schemas.openxmlformats.org/drawingml/2006/main">
              <a:ext uri="{FF2B5EF4-FFF2-40B4-BE49-F238E27FC236}">
                <a16:creationId xmlns:a16="http://schemas.microsoft.com/office/drawing/2014/main" id="{26408F59-ED07-48E1-9953-D00DFDBA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00325"/>
            <a:ext cx="400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→</a:t>
            </a:r>
          </a:p>
        </p:txBody>
      </p:sp>
      <p:sp>
        <p:nvSpPr>
          <p:cNvPr id="7" name="motivation-question">
            <a:extLst xmlns:a="http://schemas.openxmlformats.org/drawingml/2006/main">
              <a:ext uri="{FF2B5EF4-FFF2-40B4-BE49-F238E27FC236}">
                <a16:creationId xmlns:a16="http://schemas.microsoft.com/office/drawing/2014/main" id="{FB6D2A44-179E-4F32-BF8D-93ABB96A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572000"/>
            <a:ext cx="1141095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Question: can local search improve a useful, physically structured starting partition?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28D6E4-ACB7-4A81-B01B-BA901CEF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9" name="grid-outline">
            <a:extLst xmlns:a="http://schemas.openxmlformats.org/drawingml/2006/main">
              <a:ext uri="{FF2B5EF4-FFF2-40B4-BE49-F238E27FC236}">
                <a16:creationId xmlns:a16="http://schemas.microsoft.com/office/drawing/2014/main" id="{D9EC4B7B-6E2E-45E6-A839-AF746E35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19050">
            <a:solidFill>
              <a:srgbClr val="0B0D0F"/>
            </a:solidFill>
            <a:prstDash val="solid"/>
          </a:ln>
        </p:spPr>
      </p:sp>
      <p:cxnSp>
        <p:nvCxnSpPr>
          <p:cNvPr id="36" name="grid-v"/>
          <p:cNvCxnSpPr/>
          <p:nvPr/>
        </p:nvCxnSpPr>
        <p:spPr>
          <a:xfrm xmlns:a="http://schemas.openxmlformats.org/drawingml/2006/main">
            <a:off x="6696075" y="1809750"/>
            <a:ext cx="95" cy="2381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37" name="grid-v"/>
          <p:cNvCxnSpPr/>
          <p:nvPr/>
        </p:nvCxnSpPr>
        <p:spPr>
          <a:xfrm xmlns:a="http://schemas.openxmlformats.org/drawingml/2006/main">
            <a:off x="7124700" y="1809750"/>
            <a:ext cx="95" cy="2381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38" name="grid-v"/>
          <p:cNvCxnSpPr/>
          <p:nvPr/>
        </p:nvCxnSpPr>
        <p:spPr>
          <a:xfrm xmlns:a="http://schemas.openxmlformats.org/drawingml/2006/main">
            <a:off x="7553325" y="1809750"/>
            <a:ext cx="95" cy="2381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39" name="grid-v"/>
          <p:cNvCxnSpPr/>
          <p:nvPr/>
        </p:nvCxnSpPr>
        <p:spPr>
          <a:xfrm xmlns:a="http://schemas.openxmlformats.org/drawingml/2006/main">
            <a:off x="7981950" y="1809750"/>
            <a:ext cx="95" cy="2381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40" name="grid-h"/>
          <p:cNvCxnSpPr/>
          <p:nvPr/>
        </p:nvCxnSpPr>
        <p:spPr>
          <a:xfrm xmlns:a="http://schemas.openxmlformats.org/drawingml/2006/main">
            <a:off x="6267450" y="2206625"/>
            <a:ext cx="21431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41" name="grid-h"/>
          <p:cNvCxnSpPr/>
          <p:nvPr/>
        </p:nvCxnSpPr>
        <p:spPr>
          <a:xfrm xmlns:a="http://schemas.openxmlformats.org/drawingml/2006/main">
            <a:off x="6267450" y="2603500"/>
            <a:ext cx="21431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42" name="grid-h"/>
          <p:cNvCxnSpPr/>
          <p:nvPr/>
        </p:nvCxnSpPr>
        <p:spPr>
          <a:xfrm xmlns:a="http://schemas.openxmlformats.org/drawingml/2006/main">
            <a:off x="6267450" y="3000375"/>
            <a:ext cx="21431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43" name="grid-h"/>
          <p:cNvCxnSpPr/>
          <p:nvPr/>
        </p:nvCxnSpPr>
        <p:spPr>
          <a:xfrm xmlns:a="http://schemas.openxmlformats.org/drawingml/2006/main">
            <a:off x="6267450" y="3397250"/>
            <a:ext cx="21431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44" name="grid-h"/>
          <p:cNvCxnSpPr/>
          <p:nvPr/>
        </p:nvCxnSpPr>
        <p:spPr>
          <a:xfrm xmlns:a="http://schemas.openxmlformats.org/drawingml/2006/main">
            <a:off x="6267450" y="3794125"/>
            <a:ext cx="21431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sensitivity-hotspot">
            <a:extLst xmlns:a="http://schemas.openxmlformats.org/drawingml/2006/main">
              <a:ext uri="{FF2B5EF4-FFF2-40B4-BE49-F238E27FC236}">
                <a16:creationId xmlns:a16="http://schemas.microsoft.com/office/drawing/2014/main" id="{3EA8D0CB-7534-494F-B2BC-11A82CA7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7638" y="3452813"/>
            <a:ext cx="364331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0" name="grid-outline">
            <a:extLst xmlns:a="http://schemas.openxmlformats.org/drawingml/2006/main">
              <a:ext uri="{FF2B5EF4-FFF2-40B4-BE49-F238E27FC236}">
                <a16:creationId xmlns:a16="http://schemas.microsoft.com/office/drawing/2014/main" id="{2A9E926B-91A2-4164-B67B-36FBD62B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8097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19050">
            <a:solidFill>
              <a:srgbClr val="0B0D0F"/>
            </a:solidFill>
            <a:prstDash val="solid"/>
          </a:ln>
        </p:spPr>
      </p:sp>
      <p:cxnSp>
        <p:nvCxnSpPr>
          <p:cNvPr id="47" name="adapt-v1"/>
          <p:cNvCxnSpPr/>
          <p:nvPr/>
        </p:nvCxnSpPr>
        <p:spPr>
          <a:xfrm xmlns:a="http://schemas.openxmlformats.org/drawingml/2006/main">
            <a:off x="10258425" y="1809750"/>
            <a:ext cx="95" cy="2381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cxnSp>
        <p:nvCxnSpPr>
          <p:cNvPr id="48" name="adapt-h1"/>
          <p:cNvCxnSpPr/>
          <p:nvPr/>
        </p:nvCxnSpPr>
        <p:spPr>
          <a:xfrm xmlns:a="http://schemas.openxmlformats.org/drawingml/2006/main">
            <a:off x="9229725" y="3071813"/>
            <a:ext cx="214312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cxnSp>
        <p:nvCxnSpPr>
          <p:cNvPr id="49" name="adapt-v2"/>
          <p:cNvCxnSpPr/>
          <p:nvPr/>
        </p:nvCxnSpPr>
        <p:spPr>
          <a:xfrm xmlns:a="http://schemas.openxmlformats.org/drawingml/2006/main">
            <a:off x="10729913" y="3071813"/>
            <a:ext cx="95" cy="111918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cxnSp>
        <p:nvCxnSpPr>
          <p:cNvPr id="50" name="adapt-h2"/>
          <p:cNvCxnSpPr/>
          <p:nvPr/>
        </p:nvCxnSpPr>
        <p:spPr>
          <a:xfrm xmlns:a="http://schemas.openxmlformats.org/drawingml/2006/main">
            <a:off x="10258425" y="3595688"/>
            <a:ext cx="111442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cxnSp>
        <p:nvCxnSpPr>
          <p:cNvPr id="51" name="adapt-v3"/>
          <p:cNvCxnSpPr/>
          <p:nvPr/>
        </p:nvCxnSpPr>
        <p:spPr>
          <a:xfrm xmlns:a="http://schemas.openxmlformats.org/drawingml/2006/main">
            <a:off x="11029950" y="3595688"/>
            <a:ext cx="95" cy="5953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sp>
        <p:nvSpPr>
          <p:cNvPr id="26" name="sensitivity-hotspot">
            <a:extLst xmlns:a="http://schemas.openxmlformats.org/drawingml/2006/main">
              <a:ext uri="{FF2B5EF4-FFF2-40B4-BE49-F238E27FC236}">
                <a16:creationId xmlns:a16="http://schemas.microsoft.com/office/drawing/2014/main" id="{759A92A5-5E94-45E8-8684-9D1E020E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9913" y="3452813"/>
            <a:ext cx="364331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375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FE37A8-EFF2-4399-8E83-D97BABC6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This POC tests one narrow claim</a:t>
            </a:r>
          </a:p>
        </p:txBody>
      </p:sp>
      <p:cxnSp>
        <p:nvCxnSpPr>
          <p:cNvPr id="9" name="scope-divider"/>
          <p:cNvCxnSpPr/>
          <p:nvPr/>
        </p:nvCxnSpPr>
        <p:spPr>
          <a:xfrm xmlns:a="http://schemas.openxmlformats.org/drawingml/2006/main">
            <a:off x="6096000" y="1438275"/>
            <a:ext cx="95" cy="40957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scope-yes">
            <a:extLst xmlns:a="http://schemas.openxmlformats.org/drawingml/2006/main">
              <a:ext uri="{FF2B5EF4-FFF2-40B4-BE49-F238E27FC236}">
                <a16:creationId xmlns:a16="http://schemas.microsoft.com/office/drawing/2014/main" id="{75CF6A54-8749-4BFE-9AE1-1C3625DC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14475"/>
            <a:ext cx="4953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613B"/>
                </a:solidFill>
                <a:latin typeface="Helvetica Neue"/>
                <a:ea typeface="Helvetica Neue"/>
                <a:cs typeface="Helvetica Neue"/>
              </a:defRPr>
            </a:pPr>
            <a:r>
              <a:t>It demonstrates</a:t>
            </a:r>
          </a:p>
        </p:txBody>
      </p:sp>
      <p:sp>
        <p:nvSpPr>
          <p:cNvPr id="4" name="scope-yes-body">
            <a:extLst xmlns:a="http://schemas.openxmlformats.org/drawingml/2006/main">
              <a:ext uri="{FF2B5EF4-FFF2-40B4-BE49-F238E27FC236}">
                <a16:creationId xmlns:a16="http://schemas.microsoft.com/office/drawing/2014/main" id="{D61A5276-CA02-4F0C-B2EF-E45B1A66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57425"/>
            <a:ext cx="495300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Deterministic TAC/MHD design construction
Proxy-greedy K=32 initialization
Stochastic improvement of Gaussian benchmark DFS
Reproducible traces and partition visualisation</a:t>
            </a:r>
          </a:p>
        </p:txBody>
      </p:sp>
      <p:sp>
        <p:nvSpPr>
          <p:cNvPr id="5" name="scope-no">
            <a:extLst xmlns:a="http://schemas.openxmlformats.org/drawingml/2006/main">
              <a:ext uri="{FF2B5EF4-FFF2-40B4-BE49-F238E27FC236}">
                <a16:creationId xmlns:a16="http://schemas.microsoft.com/office/drawing/2014/main" id="{5BFDA92D-7D43-4D84-99E5-09A3DDF8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14475"/>
            <a:ext cx="4953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It does not claim</a:t>
            </a:r>
          </a:p>
        </p:txBody>
      </p:sp>
      <p:sp>
        <p:nvSpPr>
          <p:cNvPr id="6" name="scope-no-body">
            <a:extLst xmlns:a="http://schemas.openxmlformats.org/drawingml/2006/main">
              <a:ext uri="{FF2B5EF4-FFF2-40B4-BE49-F238E27FC236}">
                <a16:creationId xmlns:a16="http://schemas.microsoft.com/office/drawing/2014/main" id="{D9E62D7C-13EE-4DDD-AAEA-1A2501DF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57425"/>
            <a:ext cx="495300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Posterior inference over partitions
An optimal or inferred number of regions
A Bocquet-consistent projected prior covariance
Production-equivalent observation error treatment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74520D1-927A-4CE5-890A-50B3D155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072110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21BD31-DE67-4CC6-BE13-C162AA48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TAC/MHD footprints and CH₄ flux build the design</a:t>
            </a:r>
          </a:p>
        </p:txBody>
      </p:sp>
      <p:cxnSp>
        <p:nvCxnSpPr>
          <p:cNvPr id="23" name="pipe-1"/>
          <p:cNvCxnSpPr/>
          <p:nvPr/>
        </p:nvCxnSpPr>
        <p:spPr>
          <a:xfrm xmlns:a="http://schemas.openxmlformats.org/drawingml/2006/main">
            <a:off x="2628900" y="2886075"/>
            <a:ext cx="5238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cxnSp>
        <p:nvCxnSpPr>
          <p:cNvPr id="24" name="pipe-2"/>
          <p:cNvCxnSpPr/>
          <p:nvPr/>
        </p:nvCxnSpPr>
        <p:spPr>
          <a:xfrm xmlns:a="http://schemas.openxmlformats.org/drawingml/2006/main">
            <a:off x="5467350" y="2886075"/>
            <a:ext cx="5238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cxnSp>
        <p:nvCxnSpPr>
          <p:cNvPr id="25" name="pipe-3"/>
          <p:cNvCxnSpPr/>
          <p:nvPr/>
        </p:nvCxnSpPr>
        <p:spPr>
          <a:xfrm xmlns:a="http://schemas.openxmlformats.org/drawingml/2006/main">
            <a:off x="8305800" y="2886075"/>
            <a:ext cx="5238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sp>
        <p:nvSpPr>
          <p:cNvPr id="5" name="pipe-box-1">
            <a:extLst xmlns:a="http://schemas.openxmlformats.org/drawingml/2006/main">
              <a:ext uri="{FF2B5EF4-FFF2-40B4-BE49-F238E27FC236}">
                <a16:creationId xmlns:a16="http://schemas.microsoft.com/office/drawing/2014/main" id="{378D5697-82D2-4768-8174-3DD6384B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71675"/>
            <a:ext cx="223837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pipe-box-2">
            <a:extLst xmlns:a="http://schemas.openxmlformats.org/drawingml/2006/main">
              <a:ext uri="{FF2B5EF4-FFF2-40B4-BE49-F238E27FC236}">
                <a16:creationId xmlns:a16="http://schemas.microsoft.com/office/drawing/2014/main" id="{39F19EE4-3B63-48AD-A15C-43C51988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1971675"/>
            <a:ext cx="223837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pipe-box-3">
            <a:extLst xmlns:a="http://schemas.openxmlformats.org/drawingml/2006/main">
              <a:ext uri="{FF2B5EF4-FFF2-40B4-BE49-F238E27FC236}">
                <a16:creationId xmlns:a16="http://schemas.microsoft.com/office/drawing/2014/main" id="{841FE659-1E9A-4FEF-9ABA-4727A13E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971675"/>
            <a:ext cx="223837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8" name="pipe-box-4">
            <a:extLst xmlns:a="http://schemas.openxmlformats.org/drawingml/2006/main">
              <a:ext uri="{FF2B5EF4-FFF2-40B4-BE49-F238E27FC236}">
                <a16:creationId xmlns:a16="http://schemas.microsoft.com/office/drawing/2014/main" id="{F9C39E0D-814E-481F-A912-0D7AD8D9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971675"/>
            <a:ext cx="28956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45C7C56E-BFA8-4D35-BE01-5ECF62AA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43125"/>
            <a:ext cx="333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10" name="step-2">
            <a:extLst xmlns:a="http://schemas.openxmlformats.org/drawingml/2006/main">
              <a:ext uri="{FF2B5EF4-FFF2-40B4-BE49-F238E27FC236}">
                <a16:creationId xmlns:a16="http://schemas.microsoft.com/office/drawing/2014/main" id="{42F02E1A-2B1A-495D-BC57-F3BDEF22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43125"/>
            <a:ext cx="333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11A11C39-DD54-4AA8-BBF0-C5413F8A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143125"/>
            <a:ext cx="333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12" name="step-4">
            <a:extLst xmlns:a="http://schemas.openxmlformats.org/drawingml/2006/main">
              <a:ext uri="{FF2B5EF4-FFF2-40B4-BE49-F238E27FC236}">
                <a16:creationId xmlns:a16="http://schemas.microsoft.com/office/drawing/2014/main" id="{B2A77500-866C-4E14-B02B-7C60AC54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43125"/>
            <a:ext cx="333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13" name="pipe-text-1">
            <a:extLst xmlns:a="http://schemas.openxmlformats.org/drawingml/2006/main">
              <a:ext uri="{FF2B5EF4-FFF2-40B4-BE49-F238E27FC236}">
                <a16:creationId xmlns:a16="http://schemas.microsoft.com/office/drawing/2014/main" id="{A4267F69-AD79-451D-BFFB-C68B57BF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600325"/>
            <a:ext cx="185737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23 MHD + 24 TAC
hourly observations</a:t>
            </a:r>
          </a:p>
        </p:txBody>
      </p:sp>
      <p:sp>
        <p:nvSpPr>
          <p:cNvPr id="14" name="pipe-text-2">
            <a:extLst xmlns:a="http://schemas.openxmlformats.org/drawingml/2006/main">
              <a:ext uri="{FF2B5EF4-FFF2-40B4-BE49-F238E27FC236}">
                <a16:creationId xmlns:a16="http://schemas.microsoft.com/office/drawing/2014/main" id="{DCF9D51B-3930-47B3-9413-6E2BFF09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600325"/>
            <a:ext cx="185737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Annual CH₄
flux field</a:t>
            </a:r>
          </a:p>
        </p:txBody>
      </p:sp>
      <p:sp>
        <p:nvSpPr>
          <p:cNvPr id="15" name="pipe-text-3">
            <a:extLst xmlns:a="http://schemas.openxmlformats.org/drawingml/2006/main">
              <a:ext uri="{FF2B5EF4-FFF2-40B4-BE49-F238E27FC236}">
                <a16:creationId xmlns:a16="http://schemas.microsoft.com/office/drawing/2014/main" id="{E6CA27D0-D1F6-4794-8633-EDF467D1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00325"/>
            <a:ext cx="185737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Gᵢc = footprintᵢc
× fluxc × 10⁹</a:t>
            </a:r>
          </a:p>
        </p:txBody>
      </p:sp>
      <p:sp>
        <p:nvSpPr>
          <p:cNvPr id="16" name="pipe-text-4">
            <a:extLst xmlns:a="http://schemas.openxmlformats.org/drawingml/2006/main">
              <a:ext uri="{FF2B5EF4-FFF2-40B4-BE49-F238E27FC236}">
                <a16:creationId xmlns:a16="http://schemas.microsoft.com/office/drawing/2014/main" id="{A3FEBE17-DC9B-4499-BF4B-25A605BD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00325"/>
            <a:ext cx="23241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Sum-coarsen ×8
47×293×391 →
47×37×49</a:t>
            </a:r>
          </a:p>
        </p:txBody>
      </p:sp>
      <p:sp>
        <p:nvSpPr>
          <p:cNvPr id="17" name="r-label">
            <a:extLst xmlns:a="http://schemas.openxmlformats.org/drawingml/2006/main">
              <a:ext uri="{FF2B5EF4-FFF2-40B4-BE49-F238E27FC236}">
                <a16:creationId xmlns:a16="http://schemas.microsoft.com/office/drawing/2014/main" id="{A2920661-053D-4A2E-A534-8B5B598E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57700"/>
            <a:ext cx="347662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Benchmark observation covariance</a:t>
            </a:r>
          </a:p>
        </p:txBody>
      </p:sp>
      <p:sp>
        <p:nvSpPr>
          <p:cNvPr id="18" name="r-formula">
            <a:extLst xmlns:a="http://schemas.openxmlformats.org/drawingml/2006/main">
              <a:ext uri="{FF2B5EF4-FFF2-40B4-BE49-F238E27FC236}">
                <a16:creationId xmlns:a16="http://schemas.microsoft.com/office/drawing/2014/main" id="{C47ADD89-073C-44E0-B0B2-E1A34DB1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895850"/>
            <a:ext cx="523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R = diag{max(error, min_error)²}</a:t>
            </a:r>
          </a:p>
        </p:txBody>
      </p:sp>
      <p:sp>
        <p:nvSpPr>
          <p:cNvPr id="19" name="r-caveat">
            <a:extLst xmlns:a="http://schemas.openxmlformats.org/drawingml/2006/main">
              <a:ext uri="{FF2B5EF4-FFF2-40B4-BE49-F238E27FC236}">
                <a16:creationId xmlns:a16="http://schemas.microsoft.com/office/drawing/2014/main" id="{482134B7-4F64-489A-9CBB-3671E4C9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591050"/>
            <a:ext cx="57531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min_error is a minimum-mismatch floor, not the inferred production total-error process.</a:t>
            </a:r>
          </a:p>
        </p:txBody>
      </p:sp>
      <p:sp>
        <p:nvSpPr>
          <p:cNvPr id="20" name="method-source">
            <a:extLst xmlns:a="http://schemas.openxmlformats.org/drawingml/2006/main">
              <a:ext uri="{FF2B5EF4-FFF2-40B4-BE49-F238E27FC236}">
                <a16:creationId xmlns:a16="http://schemas.microsoft.com/office/drawing/2014/main" id="{91CA04EF-8DF7-4292-8DC8-1DAB1568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29375"/>
            <a:ext cx="10668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Method: demo_data.py; frozen TAC/MHD fixtures under tests/data.</a:t>
            </a:r>
          </a:p>
        </p:txBody>
      </p:sp>
      <p:sp>
        <p:nvSpPr>
          <p:cNvPr id="2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08B345-5952-4797-8CD7-2FDABF7C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821449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C923D8-9EF2-4900-8AA2-142BE3EC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Proxy-greedy splitting creates the K=32 start</a:t>
            </a:r>
          </a:p>
        </p:txBody>
      </p:sp>
      <p:sp>
        <p:nvSpPr>
          <p:cNvPr id="2" name="proxy-label">
            <a:extLst xmlns:a="http://schemas.openxmlformats.org/drawingml/2006/main">
              <a:ext uri="{FF2B5EF4-FFF2-40B4-BE49-F238E27FC236}">
                <a16:creationId xmlns:a16="http://schemas.microsoft.com/office/drawing/2014/main" id="{CB10ABD1-9A85-402D-A2A9-7BA73417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28750"/>
            <a:ext cx="428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For candidate tile v</a:t>
            </a:r>
          </a:p>
        </p:txBody>
      </p:sp>
      <p:sp>
        <p:nvSpPr>
          <p:cNvPr id="3" name="proxy-h">
            <a:extLst xmlns:a="http://schemas.openxmlformats.org/drawingml/2006/main">
              <a:ext uri="{FF2B5EF4-FFF2-40B4-BE49-F238E27FC236}">
                <a16:creationId xmlns:a16="http://schemas.microsoft.com/office/drawing/2014/main" id="{3F5BD0F7-E73D-4C43-A86A-CE36FBED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66900"/>
            <a:ext cx="4381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hᵢᵥ = Σc∈v Gᵢc</a:t>
            </a:r>
          </a:p>
        </p:txBody>
      </p:sp>
      <p:sp>
        <p:nvSpPr>
          <p:cNvPr id="4" name="proxy-s">
            <a:extLst xmlns:a="http://schemas.openxmlformats.org/drawingml/2006/main">
              <a:ext uri="{FF2B5EF4-FFF2-40B4-BE49-F238E27FC236}">
                <a16:creationId xmlns:a16="http://schemas.microsoft.com/office/drawing/2014/main" id="{765516A3-7658-460E-A7EF-983CD368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05075"/>
            <a:ext cx="4953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sᵥ = (1/aᵥ) Σᵢ Rᵢᵢ⁻¹ hᵢᵥ²</a:t>
            </a:r>
          </a:p>
        </p:txBody>
      </p:sp>
      <p:sp>
        <p:nvSpPr>
          <p:cNvPr id="5" name="sum-square-callout">
            <a:extLst xmlns:a="http://schemas.openxmlformats.org/drawingml/2006/main">
              <a:ext uri="{FF2B5EF4-FFF2-40B4-BE49-F238E27FC236}">
                <a16:creationId xmlns:a16="http://schemas.microsoft.com/office/drawing/2014/main" id="{3832915D-2DFF-4331-8E13-277DC754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86125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6" name="sum-square">
            <a:extLst xmlns:a="http://schemas.openxmlformats.org/drawingml/2006/main">
              <a:ext uri="{FF2B5EF4-FFF2-40B4-BE49-F238E27FC236}">
                <a16:creationId xmlns:a16="http://schemas.microsoft.com/office/drawing/2014/main" id="{0DE838E5-71A7-4AD6-AFB8-B09DB6C4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86150"/>
            <a:ext cx="45339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Cells are summed before squaring.</a:t>
            </a:r>
          </a:p>
        </p:txBody>
      </p:sp>
      <p:sp>
        <p:nvSpPr>
          <p:cNvPr id="7" name="proxy-method">
            <a:extLst xmlns:a="http://schemas.openxmlformats.org/drawingml/2006/main">
              <a:ext uri="{FF2B5EF4-FFF2-40B4-BE49-F238E27FC236}">
                <a16:creationId xmlns:a16="http://schemas.microsoft.com/office/drawing/2014/main" id="{7821FF5F-570F-461C-83B4-5ADF0F7C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43400"/>
            <a:ext cx="4953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The initializer applies the split with the largest proxy gain until 32 active regions remain.</a:t>
            </a:r>
          </a:p>
        </p:txBody>
      </p:sp>
      <p:sp>
        <p:nvSpPr>
          <p:cNvPr id="8" name="frame0-backing">
            <a:extLst xmlns:a="http://schemas.openxmlformats.org/drawingml/2006/main">
              <a:ext uri="{FF2B5EF4-FFF2-40B4-BE49-F238E27FC236}">
                <a16:creationId xmlns:a16="http://schemas.microsoft.com/office/drawing/2014/main" id="{2BD3B2AF-C2EB-46AE-A3A2-BF18FA5A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362075"/>
            <a:ext cx="600075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1" name="initializer-fram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9ca275cc041c4"/>
          <a:stretch xmlns:a="http://schemas.openxmlformats.org/drawingml/2006/main"/>
        </p:blipFill>
        <p:spPr>
          <a:xfrm xmlns:a="http://schemas.openxmlformats.org/drawingml/2006/main">
            <a:off x="6136571" y="1457325"/>
            <a:ext cx="5329058" cy="3895725"/>
          </a:xfrm>
          <a:prstGeom xmlns:a="http://schemas.openxmlformats.org/drawingml/2006/main" prst="rect">
            <a:avLst/>
          </a:prstGeom>
        </p:spPr>
      </p:pic>
      <p:sp>
        <p:nvSpPr>
          <p:cNvPr id="10" name="weight-caption">
            <a:extLst xmlns:a="http://schemas.openxmlformats.org/drawingml/2006/main">
              <a:ext uri="{FF2B5EF4-FFF2-40B4-BE49-F238E27FC236}">
                <a16:creationId xmlns:a16="http://schemas.microsoft.com/office/drawing/2014/main" id="{D5D5E6F7-029B-4986-95CB-D13EDFBE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5619750"/>
            <a:ext cx="60007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Background: log(1 + √Σᵢ Gᵢc²/Rᵢᵢ). It is context, not the complete tile score.</a:t>
            </a:r>
          </a:p>
        </p:txBody>
      </p:sp>
      <p:sp>
        <p:nvSpPr>
          <p:cNvPr id="11" name="method-source">
            <a:extLst xmlns:a="http://schemas.openxmlformats.org/drawingml/2006/main">
              <a:ext uri="{FF2B5EF4-FFF2-40B4-BE49-F238E27FC236}">
                <a16:creationId xmlns:a16="http://schemas.microsoft.com/office/drawing/2014/main" id="{E90F2471-36BF-4B73-A9A3-C16D4227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29375"/>
            <a:ext cx="10668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Method: initializers.py, objectives.py; visual: tac_mhd_sls.gif.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A8B629-F15E-4380-A6B7-33DBAED7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711686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81FC88-D520-4C70-9EC4-D9F88C91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Fixed-K search changes partition shape</a:t>
            </a:r>
          </a:p>
        </p:txBody>
      </p:sp>
      <p:sp>
        <p:nvSpPr>
          <p:cNvPr id="2" name="move-1">
            <a:extLst xmlns:a="http://schemas.openxmlformats.org/drawingml/2006/main">
              <a:ext uri="{FF2B5EF4-FFF2-40B4-BE49-F238E27FC236}">
                <a16:creationId xmlns:a16="http://schemas.microsoft.com/office/drawing/2014/main" id="{924DAF23-D2F3-4440-B65F-E1C4A39B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38112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move-2">
            <a:extLst xmlns:a="http://schemas.openxmlformats.org/drawingml/2006/main">
              <a:ext uri="{FF2B5EF4-FFF2-40B4-BE49-F238E27FC236}">
                <a16:creationId xmlns:a16="http://schemas.microsoft.com/office/drawing/2014/main" id="{508BE088-33D9-4AD6-AEDD-8847002C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38112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move-3">
            <a:extLst xmlns:a="http://schemas.openxmlformats.org/drawingml/2006/main">
              <a:ext uri="{FF2B5EF4-FFF2-40B4-BE49-F238E27FC236}">
                <a16:creationId xmlns:a16="http://schemas.microsoft.com/office/drawing/2014/main" id="{7E14F4B9-3A0A-4F7C-A52A-0A22665B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38112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move-label-1">
            <a:extLst xmlns:a="http://schemas.openxmlformats.org/drawingml/2006/main">
              <a:ext uri="{FF2B5EF4-FFF2-40B4-BE49-F238E27FC236}">
                <a16:creationId xmlns:a16="http://schemas.microsoft.com/office/drawing/2014/main" id="{8DA4733E-64C8-4206-87EA-D6CB9EFB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28775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MERGE</a:t>
            </a:r>
          </a:p>
        </p:txBody>
      </p:sp>
      <p:sp>
        <p:nvSpPr>
          <p:cNvPr id="6" name="move-body-1">
            <a:extLst xmlns:a="http://schemas.openxmlformats.org/drawingml/2006/main">
              <a:ext uri="{FF2B5EF4-FFF2-40B4-BE49-F238E27FC236}">
                <a16:creationId xmlns:a16="http://schemas.microsoft.com/office/drawing/2014/main" id="{1C727DAE-3077-4D74-BEFC-46D72FD2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047875"/>
            <a:ext cx="27527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One active sibling pair</a:t>
            </a:r>
          </a:p>
        </p:txBody>
      </p:sp>
      <p:sp>
        <p:nvSpPr>
          <p:cNvPr id="7" name="move-label-2">
            <a:extLst xmlns:a="http://schemas.openxmlformats.org/drawingml/2006/main">
              <a:ext uri="{FF2B5EF4-FFF2-40B4-BE49-F238E27FC236}">
                <a16:creationId xmlns:a16="http://schemas.microsoft.com/office/drawing/2014/main" id="{CA36DC54-3F1E-401E-B395-0E25DA83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628775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SPLIT</a:t>
            </a:r>
          </a:p>
        </p:txBody>
      </p:sp>
      <p:sp>
        <p:nvSpPr>
          <p:cNvPr id="8" name="move-body-2">
            <a:extLst xmlns:a="http://schemas.openxmlformats.org/drawingml/2006/main">
              <a:ext uri="{FF2B5EF4-FFF2-40B4-BE49-F238E27FC236}">
                <a16:creationId xmlns:a16="http://schemas.microsoft.com/office/drawing/2014/main" id="{9630FE81-56A4-412A-AFA4-9005BDB8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47875"/>
            <a:ext cx="27527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Another compatible active tile</a:t>
            </a:r>
          </a:p>
        </p:txBody>
      </p:sp>
      <p:sp>
        <p:nvSpPr>
          <p:cNvPr id="9" name="move-label-3">
            <a:extLst xmlns:a="http://schemas.openxmlformats.org/drawingml/2006/main">
              <a:ext uri="{FF2B5EF4-FFF2-40B4-BE49-F238E27FC236}">
                <a16:creationId xmlns:a16="http://schemas.microsoft.com/office/drawing/2014/main" id="{60E7E4FE-7919-42B4-A4A3-3F03782C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28775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ACCEPT</a:t>
            </a:r>
          </a:p>
        </p:txBody>
      </p:sp>
      <p:sp>
        <p:nvSpPr>
          <p:cNvPr id="10" name="move-body-3">
            <a:extLst xmlns:a="http://schemas.openxmlformats.org/drawingml/2006/main">
              <a:ext uri="{FF2B5EF4-FFF2-40B4-BE49-F238E27FC236}">
                <a16:creationId xmlns:a16="http://schemas.microsoft.com/office/drawing/2014/main" id="{B9B9202C-DC79-43C9-9CB4-F17A5E4C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47875"/>
            <a:ext cx="2752725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Improve, or accept loss L with exp(−L/T)</a:t>
            </a:r>
          </a:p>
        </p:txBody>
      </p:sp>
      <p:sp>
        <p:nvSpPr>
          <p:cNvPr id="11" name="dfs-label">
            <a:extLst xmlns:a="http://schemas.openxmlformats.org/drawingml/2006/main">
              <a:ext uri="{FF2B5EF4-FFF2-40B4-BE49-F238E27FC236}">
                <a16:creationId xmlns:a16="http://schemas.microsoft.com/office/drawing/2014/main" id="{AF64C2F6-313B-46EB-B636-46EB22A6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71850"/>
            <a:ext cx="3810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Gaussian benchmark DFS</a:t>
            </a:r>
          </a:p>
        </p:txBody>
      </p:sp>
      <p:sp>
        <p:nvSpPr>
          <p:cNvPr id="12" name="dfs-formula">
            <a:extLst xmlns:a="http://schemas.openxmlformats.org/drawingml/2006/main">
              <a:ext uri="{FF2B5EF4-FFF2-40B4-BE49-F238E27FC236}">
                <a16:creationId xmlns:a16="http://schemas.microsoft.com/office/drawing/2014/main" id="{F3D7395C-DD43-4FEB-942F-45B34AC4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90950"/>
            <a:ext cx="7772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D(P) = K − tr[(Bₚ⁻¹ + HₚᵀR⁻¹Hₚ)⁻¹ Bₚ⁻¹]</a:t>
            </a:r>
          </a:p>
        </p:txBody>
      </p:sp>
      <p:sp>
        <p:nvSpPr>
          <p:cNvPr id="13" name="pilot-stat">
            <a:extLst xmlns:a="http://schemas.openxmlformats.org/drawingml/2006/main">
              <a:ext uri="{FF2B5EF4-FFF2-40B4-BE49-F238E27FC236}">
                <a16:creationId xmlns:a16="http://schemas.microsoft.com/office/drawing/2014/main" id="{75D1F68B-ACAA-42C9-8EB2-4A958700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429000"/>
            <a:ext cx="857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100</a:t>
            </a:r>
          </a:p>
        </p:txBody>
      </p:sp>
      <p:sp>
        <p:nvSpPr>
          <p:cNvPr id="14" name="pilot-label">
            <a:extLst xmlns:a="http://schemas.openxmlformats.org/drawingml/2006/main">
              <a:ext uri="{FF2B5EF4-FFF2-40B4-BE49-F238E27FC236}">
                <a16:creationId xmlns:a16="http://schemas.microsoft.com/office/drawing/2014/main" id="{FEF7B3D2-E79C-44C8-93B6-D6A889A8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514725"/>
            <a:ext cx="1809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pilot proposals</a:t>
            </a:r>
          </a:p>
        </p:txBody>
      </p:sp>
      <p:sp>
        <p:nvSpPr>
          <p:cNvPr id="15" name="eval-stat">
            <a:extLst xmlns:a="http://schemas.openxmlformats.org/drawingml/2006/main">
              <a:ext uri="{FF2B5EF4-FFF2-40B4-BE49-F238E27FC236}">
                <a16:creationId xmlns:a16="http://schemas.microsoft.com/office/drawing/2014/main" id="{08113176-C679-4545-810B-22B39F74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048125"/>
            <a:ext cx="857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300</a:t>
            </a:r>
          </a:p>
        </p:txBody>
      </p:sp>
      <p:sp>
        <p:nvSpPr>
          <p:cNvPr id="16" name="eval-label">
            <a:extLst xmlns:a="http://schemas.openxmlformats.org/drawingml/2006/main">
              <a:ext uri="{FF2B5EF4-FFF2-40B4-BE49-F238E27FC236}">
                <a16:creationId xmlns:a16="http://schemas.microsoft.com/office/drawing/2014/main" id="{8652F71E-6C5B-4531-9D39-A15629C2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133850"/>
            <a:ext cx="1809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search evaluations</a:t>
            </a:r>
          </a:p>
        </p:txBody>
      </p:sp>
      <p:sp>
        <p:nvSpPr>
          <p:cNvPr id="17" name="accept-stat">
            <a:extLst xmlns:a="http://schemas.openxmlformats.org/drawingml/2006/main">
              <a:ext uri="{FF2B5EF4-FFF2-40B4-BE49-F238E27FC236}">
                <a16:creationId xmlns:a16="http://schemas.microsoft.com/office/drawing/2014/main" id="{5E6AB31B-9DEF-43D7-B0D2-FC58574E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667250"/>
            <a:ext cx="857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154</a:t>
            </a:r>
          </a:p>
        </p:txBody>
      </p:sp>
      <p:sp>
        <p:nvSpPr>
          <p:cNvPr id="18" name="accept-label">
            <a:extLst xmlns:a="http://schemas.openxmlformats.org/drawingml/2006/main">
              <a:ext uri="{FF2B5EF4-FFF2-40B4-BE49-F238E27FC236}">
                <a16:creationId xmlns:a16="http://schemas.microsoft.com/office/drawing/2014/main" id="{02285E23-8A80-4F3B-9854-E0B3836C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752975"/>
            <a:ext cx="1809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accepted moves</a:t>
            </a:r>
          </a:p>
        </p:txBody>
      </p:sp>
      <p:sp>
        <p:nvSpPr>
          <p:cNvPr id="19" name="not-posterior">
            <a:extLst xmlns:a="http://schemas.openxmlformats.org/drawingml/2006/main">
              <a:ext uri="{FF2B5EF4-FFF2-40B4-BE49-F238E27FC236}">
                <a16:creationId xmlns:a16="http://schemas.microsoft.com/office/drawing/2014/main" id="{FE494E60-38DD-4938-A236-BDA6D510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05375"/>
            <a:ext cx="7772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E"/>
          </a:solidFill>
          <a:ln xmlns:a="http://schemas.openxmlformats.org/drawingml/2006/main" w="9525">
            <a:solidFill>
              <a:srgbClr val="17613B"/>
            </a:solidFill>
            <a:prstDash val="solid"/>
          </a:ln>
        </p:spPr>
      </p:sp>
      <p:sp>
        <p:nvSpPr>
          <p:cNvPr id="20" name="not-posterior-text">
            <a:extLst xmlns:a="http://schemas.openxmlformats.org/drawingml/2006/main">
              <a:ext uri="{FF2B5EF4-FFF2-40B4-BE49-F238E27FC236}">
                <a16:creationId xmlns:a16="http://schemas.microsoft.com/office/drawing/2014/main" id="{7BE7ACD4-B803-44CA-8FF0-D52B1DF2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14925"/>
            <a:ext cx="73152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613B"/>
                </a:solidFill>
                <a:latin typeface="Helvetica Neue"/>
                <a:ea typeface="Helvetica Neue"/>
                <a:cs typeface="Helvetica Neue"/>
              </a:defRPr>
            </a:pPr>
            <a:r>
              <a:t>Stochastic optimisation, not posterior sampling.</a:t>
            </a:r>
          </a:p>
        </p:txBody>
      </p:sp>
      <p:sp>
        <p:nvSpPr>
          <p:cNvPr id="21" name="method-source">
            <a:extLst xmlns:a="http://schemas.openxmlformats.org/drawingml/2006/main">
              <a:ext uri="{FF2B5EF4-FFF2-40B4-BE49-F238E27FC236}">
                <a16:creationId xmlns:a16="http://schemas.microsoft.com/office/drawing/2014/main" id="{2AAE927D-A45A-4C2E-AB4C-2BB4CA25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29375"/>
            <a:ext cx="10668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Method: proposals.py, search.py, tac_mhd_sls_manifest.json; DFS inspired by Bocquet, Wu &amp; Chevallier.</a:t>
            </a:r>
          </a:p>
        </p:txBody>
      </p:sp>
      <p:sp>
        <p:nvSpPr>
          <p:cNvPr id="2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F7C1C1-E22C-4AD1-9C97-19FC051C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377644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ECDFB2-D974-408F-972A-323ED971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Local search improves the Gaussian DFS benchmark</a:t>
            </a:r>
          </a:p>
        </p:txBody>
      </p:sp>
      <p:pic>
        <p:nvPicPr>
          <p:cNvPr id="13" name="result-summar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850167b17a459d"/>
          <a:stretch xmlns:a="http://schemas.openxmlformats.org/drawingml/2006/main"/>
        </p:blipFill>
        <p:spPr>
          <a:xfrm xmlns:a="http://schemas.openxmlformats.org/drawingml/2006/main">
            <a:off x="1441739" y="1000125"/>
            <a:ext cx="9308523" cy="4095750"/>
          </a:xfrm>
          <a:prstGeom xmlns:a="http://schemas.openxmlformats.org/drawingml/2006/main" prst="rect">
            <a:avLst/>
          </a:prstGeom>
        </p:spPr>
      </p:pic>
      <p:cxnSp>
        <p:nvCxnSpPr>
          <p:cNvPr id="14" name="result-rule"/>
          <p:cNvCxnSpPr/>
          <p:nvPr/>
        </p:nvCxnSpPr>
        <p:spPr>
          <a:xfrm xmlns:a="http://schemas.openxmlformats.org/drawingml/2006/main">
            <a:off x="390525" y="5267325"/>
            <a:ext cx="114109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combined-result">
            <a:extLst xmlns:a="http://schemas.openxmlformats.org/drawingml/2006/main">
              <a:ext uri="{FF2B5EF4-FFF2-40B4-BE49-F238E27FC236}">
                <a16:creationId xmlns:a16="http://schemas.microsoft.com/office/drawing/2014/main" id="{0451DB25-0567-4705-83BC-F8AF550B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4000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6.6213868511 → 6.6969787847</a:t>
            </a:r>
          </a:p>
        </p:txBody>
      </p:sp>
      <p:sp>
        <p:nvSpPr>
          <p:cNvPr id="5" name="combined-label">
            <a:extLst xmlns:a="http://schemas.openxmlformats.org/drawingml/2006/main">
              <a:ext uri="{FF2B5EF4-FFF2-40B4-BE49-F238E27FC236}">
                <a16:creationId xmlns:a16="http://schemas.microsoft.com/office/drawing/2014/main" id="{DCCD842A-5446-410B-86B1-06144407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6740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combined TAC/MHD</a:t>
            </a:r>
          </a:p>
        </p:txBody>
      </p:sp>
      <p:sp>
        <p:nvSpPr>
          <p:cNvPr id="6" name="mhd-result">
            <a:extLst xmlns:a="http://schemas.openxmlformats.org/drawingml/2006/main">
              <a:ext uri="{FF2B5EF4-FFF2-40B4-BE49-F238E27FC236}">
                <a16:creationId xmlns:a16="http://schemas.microsoft.com/office/drawing/2014/main" id="{B9155A8A-A4B1-46A5-A2BB-10E060E0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476875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2.2306430146 → 2.2599799610</a:t>
            </a:r>
          </a:p>
        </p:txBody>
      </p:sp>
      <p:sp>
        <p:nvSpPr>
          <p:cNvPr id="7" name="mhd-label">
            <a:extLst xmlns:a="http://schemas.openxmlformats.org/drawingml/2006/main">
              <a:ext uri="{FF2B5EF4-FFF2-40B4-BE49-F238E27FC236}">
                <a16:creationId xmlns:a16="http://schemas.microsoft.com/office/drawing/2014/main" id="{987AB2F0-9A5F-46CC-89AA-468EBEAF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MHD-only diagnostic</a:t>
            </a:r>
          </a:p>
        </p:txBody>
      </p:sp>
      <p:sp>
        <p:nvSpPr>
          <p:cNvPr id="8" name="tac-result">
            <a:extLst xmlns:a="http://schemas.openxmlformats.org/drawingml/2006/main">
              <a:ext uri="{FF2B5EF4-FFF2-40B4-BE49-F238E27FC236}">
                <a16:creationId xmlns:a16="http://schemas.microsoft.com/office/drawing/2014/main" id="{C572F45B-35B3-48C8-8DDB-B541A6A0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476875"/>
            <a:ext cx="3333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4.7197859243 → 4.7464773740</a:t>
            </a:r>
          </a:p>
        </p:txBody>
      </p:sp>
      <p:sp>
        <p:nvSpPr>
          <p:cNvPr id="9" name="tac-label">
            <a:extLst xmlns:a="http://schemas.openxmlformats.org/drawingml/2006/main">
              <a:ext uri="{FF2B5EF4-FFF2-40B4-BE49-F238E27FC236}">
                <a16:creationId xmlns:a16="http://schemas.microsoft.com/office/drawing/2014/main" id="{926A441D-00A9-40BF-A9DB-918BC1B8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8674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TAC-only diagnostic</a:t>
            </a:r>
          </a:p>
        </p:txBody>
      </p:sp>
      <p:sp>
        <p:nvSpPr>
          <p:cNvPr id="10" name="method-source">
            <a:extLst xmlns:a="http://schemas.openxmlformats.org/drawingml/2006/main">
              <a:ext uri="{FF2B5EF4-FFF2-40B4-BE49-F238E27FC236}">
                <a16:creationId xmlns:a16="http://schemas.microsoft.com/office/drawing/2014/main" id="{2C95A5D3-1CC2-4C63-9677-A6839D8F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29375"/>
            <a:ext cx="10668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tac_mhd_sls_summary.png and tac_mhd_sls_manifest.json. Site-only DFS values are separate, non-additive recomputations.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111F1B-1B27-4FBC-9CDC-3FB682BB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798526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A4EAE6-1CF9-4A3D-B25F-8E51ED81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618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Full-week data scale variable-K search to 333 observations</a:t>
            </a:r>
          </a:p>
        </p:txBody>
      </p:sp>
      <p:pic>
        <p:nvPicPr>
          <p:cNvPr id="20" name="variable-k-summar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9d4e26fb847b5"/>
          <a:stretch xmlns:a="http://schemas.openxmlformats.org/drawingml/2006/main"/>
        </p:blipFill>
        <p:spPr>
          <a:xfrm xmlns:a="http://schemas.openxmlformats.org/drawingml/2006/main">
            <a:off x="390525" y="1091565"/>
            <a:ext cx="6858000" cy="3017520"/>
          </a:xfrm>
          <a:prstGeom xmlns:a="http://schemas.openxmlformats.org/drawingml/2006/main" prst="rect">
            <a:avLst/>
          </a:prstGeom>
        </p:spPr>
      </p:pic>
      <p:sp>
        <p:nvSpPr>
          <p:cNvPr id="3" name="variable-k-label">
            <a:extLst xmlns:a="http://schemas.openxmlformats.org/drawingml/2006/main">
              <a:ext uri="{FF2B5EF4-FFF2-40B4-BE49-F238E27FC236}">
                <a16:creationId xmlns:a16="http://schemas.microsoft.com/office/drawing/2014/main" id="{7EDCA595-EAB9-46D1-A32C-408B7A44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00150"/>
            <a:ext cx="3238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FULL-WEEK LONGER RUN</a:t>
            </a:r>
          </a:p>
        </p:txBody>
      </p:sp>
      <p:sp>
        <p:nvSpPr>
          <p:cNvPr id="4" name="variable-k-change">
            <a:extLst xmlns:a="http://schemas.openxmlformats.org/drawingml/2006/main">
              <a:ext uri="{FF2B5EF4-FFF2-40B4-BE49-F238E27FC236}">
                <a16:creationId xmlns:a16="http://schemas.microsoft.com/office/drawing/2014/main" id="{EBBA8CE8-10CE-4BBC-A87E-FF676B15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3810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333 hourly rows</a:t>
            </a:r>
          </a:p>
        </p:txBody>
      </p:sp>
      <p:sp>
        <p:nvSpPr>
          <p:cNvPr id="5" name="variable-k-dfs">
            <a:extLst xmlns:a="http://schemas.openxmlformats.org/drawingml/2006/main">
              <a:ext uri="{FF2B5EF4-FFF2-40B4-BE49-F238E27FC236}">
                <a16:creationId xmlns:a16="http://schemas.microsoft.com/office/drawing/2014/main" id="{617D0785-6F78-4444-B19F-A33B21BA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05025"/>
            <a:ext cx="381000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K 24 → 25</a:t>
            </a:r>
          </a:p>
        </p:txBody>
      </p:sp>
      <p:sp>
        <p:nvSpPr>
          <p:cNvPr id="6" name="variable-k-config">
            <a:extLst xmlns:a="http://schemas.openxmlformats.org/drawingml/2006/main">
              <a:ext uri="{FF2B5EF4-FFF2-40B4-BE49-F238E27FC236}">
                <a16:creationId xmlns:a16="http://schemas.microsoft.com/office/drawing/2014/main" id="{56BC1893-E8B4-4ED7-A321-AF6750C8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581275"/>
            <a:ext cx="3810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DFS 5.878766 → 5.926013</a:t>
            </a:r>
          </a:p>
        </p:txBody>
      </p:sp>
      <p:sp>
        <p:nvSpPr>
          <p:cNvPr id="7" name="variable-k-run-stats">
            <a:extLst xmlns:a="http://schemas.openxmlformats.org/drawingml/2006/main">
              <a:ext uri="{FF2B5EF4-FFF2-40B4-BE49-F238E27FC236}">
                <a16:creationId xmlns:a16="http://schemas.microsoft.com/office/drawing/2014/main" id="{F8A8D4E7-1E29-4CD6-AF31-5FCFF12A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33725"/>
            <a:ext cx="3810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2,000 evaluations · 927 accepted
2.36 s excluding rendering</a:t>
            </a:r>
          </a:p>
        </p:txBody>
      </p:sp>
      <p:sp>
        <p:nvSpPr>
          <p:cNvPr id="8" name="utility-formula-box">
            <a:extLst xmlns:a="http://schemas.openxmlformats.org/drawingml/2006/main">
              <a:ext uri="{FF2B5EF4-FFF2-40B4-BE49-F238E27FC236}">
                <a16:creationId xmlns:a16="http://schemas.microsoft.com/office/drawing/2014/main" id="{A0415801-018B-49E9-A9A7-F351A894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4095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utility-formula">
            <a:extLst xmlns:a="http://schemas.openxmlformats.org/drawingml/2006/main">
              <a:ext uri="{FF2B5EF4-FFF2-40B4-BE49-F238E27FC236}">
                <a16:creationId xmlns:a16="http://schemas.microsoft.com/office/drawing/2014/main" id="{8E4C6391-34C7-44A8-8EDE-AD17D022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434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U(P) = D(P) − λ max{0, K(P)−32}</a:t>
            </a:r>
          </a:p>
        </p:txBody>
      </p:sp>
      <p:sp>
        <p:nvSpPr>
          <p:cNvPr id="10" name="schedule-label">
            <a:extLst xmlns:a="http://schemas.openxmlformats.org/drawingml/2006/main">
              <a:ext uri="{FF2B5EF4-FFF2-40B4-BE49-F238E27FC236}">
                <a16:creationId xmlns:a16="http://schemas.microsoft.com/office/drawing/2014/main" id="{D0AD7F68-7827-4F60-BC44-FAB60643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33875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SCHEDULE</a:t>
            </a:r>
          </a:p>
        </p:txBody>
      </p:sp>
      <p:sp>
        <p:nvSpPr>
          <p:cNvPr id="11" name="schedule-body">
            <a:extLst xmlns:a="http://schemas.openxmlformats.org/drawingml/2006/main">
              <a:ext uri="{FF2B5EF4-FFF2-40B4-BE49-F238E27FC236}">
                <a16:creationId xmlns:a16="http://schemas.microsoft.com/office/drawing/2014/main" id="{C9C92D9A-1B97-4A16-9815-88B6737D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629150"/>
            <a:ext cx="319087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pilot 300 · median-loss acceptance 0.50→0.01
hold 5% · final 20% (400 iterations) greedy</a:t>
            </a:r>
          </a:p>
        </p:txBody>
      </p:sp>
      <p:sp>
        <p:nvSpPr>
          <p:cNvPr id="12" name="acceptance-label">
            <a:extLst xmlns:a="http://schemas.openxmlformats.org/drawingml/2006/main">
              <a:ext uri="{FF2B5EF4-FFF2-40B4-BE49-F238E27FC236}">
                <a16:creationId xmlns:a16="http://schemas.microsoft.com/office/drawing/2014/main" id="{042B68DB-6570-4ECA-A9F9-EC93D8F0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333875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ACCEPTANCE</a:t>
            </a:r>
          </a:p>
        </p:txBody>
      </p:sp>
      <p:sp>
        <p:nvSpPr>
          <p:cNvPr id="13" name="acceptance-body">
            <a:extLst xmlns:a="http://schemas.openxmlformats.org/drawingml/2006/main">
              <a:ext uri="{FF2B5EF4-FFF2-40B4-BE49-F238E27FC236}">
                <a16:creationId xmlns:a16="http://schemas.microsoft.com/office/drawing/2014/main" id="{C238C8C0-3989-4F63-9604-3BB20357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629150"/>
            <a:ext cx="35623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454 downhill (48.98%) · K visited 24–35
loss median 3.34e−7 · p95 0.0300 · max 0.06727</a:t>
            </a:r>
          </a:p>
        </p:txBody>
      </p:sp>
      <p:cxnSp>
        <p:nvCxnSpPr>
          <p:cNvPr id="32" name="run-note-rule"/>
          <p:cNvCxnSpPr/>
          <p:nvPr/>
        </p:nvCxnSpPr>
        <p:spPr>
          <a:xfrm xmlns:a="http://schemas.openxmlformats.org/drawingml/2006/main">
            <a:off x="390525" y="5276850"/>
            <a:ext cx="114109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downhill-note">
            <a:extLst xmlns:a="http://schemas.openxmlformats.org/drawingml/2006/main">
              <a:ext uri="{FF2B5EF4-FFF2-40B4-BE49-F238E27FC236}">
                <a16:creationId xmlns:a16="http://schemas.microsoft.com/office/drawing/2014/main" id="{3B288C7E-93F9-411C-AB55-7B3A678F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38775"/>
            <a:ext cx="114109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Many accepted downhill moves were numerically tiny; the final 400 iterations were zero-temperature greedy polishing.</a:t>
            </a:r>
          </a:p>
        </p:txBody>
      </p:sp>
      <p:sp>
        <p:nvSpPr>
          <p:cNvPr id="16" name="trace-error-note">
            <a:extLst xmlns:a="http://schemas.openxmlformats.org/drawingml/2006/main">
              <a:ext uri="{FF2B5EF4-FFF2-40B4-BE49-F238E27FC236}">
                <a16:creationId xmlns:a16="http://schemas.microsoft.com/office/drawing/2014/main" id="{F4EDB140-729F-4784-B76C-41BAE386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29300"/>
            <a:ext cx="114109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GIF/trace: current and best penalized utility, K, and cellwise-I DFS (not bound). The selected floor defines R for all 333 rows; hourly error differences do not affect this run.</a:t>
            </a:r>
          </a:p>
        </p:txBody>
      </p:sp>
      <p:sp>
        <p:nvSpPr>
          <p:cNvPr id="17" name="method-source">
            <a:extLst xmlns:a="http://schemas.openxmlformats.org/drawingml/2006/main">
              <a:ext uri="{FF2B5EF4-FFF2-40B4-BE49-F238E27FC236}">
                <a16:creationId xmlns:a16="http://schemas.microsoft.com/office/drawing/2014/main" id="{36B3E671-C8ED-4BD3-834F-02DAA94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29375"/>
            <a:ext cx="10668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full-week variable-K summary + manifest; fixed hourly covariance remains non-production.</a:t>
            </a:r>
          </a:p>
        </p:txBody>
      </p:sp>
      <p:sp>
        <p:nvSpPr>
          <p:cNvPr id="1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2FE767-D3CB-4E5A-AF02-46237293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117596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811FD0-3082-4609-B2D2-D85B1DE7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Cellwise-I DFS uses an incomparable prior</a:t>
            </a:r>
          </a:p>
        </p:txBody>
      </p:sp>
      <p:sp>
        <p:nvSpPr>
          <p:cNvPr id="2" name="cov-current">
            <a:extLst xmlns:a="http://schemas.openxmlformats.org/drawingml/2006/main">
              <a:ext uri="{FF2B5EF4-FFF2-40B4-BE49-F238E27FC236}">
                <a16:creationId xmlns:a16="http://schemas.microsoft.com/office/drawing/2014/main" id="{0819D497-9B7B-47A5-B5D0-57F3491F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66850"/>
            <a:ext cx="50482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cov-target">
            <a:extLst xmlns:a="http://schemas.openxmlformats.org/drawingml/2006/main">
              <a:ext uri="{FF2B5EF4-FFF2-40B4-BE49-F238E27FC236}">
                <a16:creationId xmlns:a16="http://schemas.microsoft.com/office/drawing/2014/main" id="{A42A23C8-B239-4181-9970-13369584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66850"/>
            <a:ext cx="543877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4" name="cov-current-label">
            <a:extLst xmlns:a="http://schemas.openxmlformats.org/drawingml/2006/main">
              <a:ext uri="{FF2B5EF4-FFF2-40B4-BE49-F238E27FC236}">
                <a16:creationId xmlns:a16="http://schemas.microsoft.com/office/drawing/2014/main" id="{4677464A-1722-4521-A966-BCA69575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342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PROVISIONAL PRIOR</a:t>
            </a:r>
          </a:p>
        </p:txBody>
      </p:sp>
      <p:sp>
        <p:nvSpPr>
          <p:cNvPr id="5" name="cov-current-formula">
            <a:extLst xmlns:a="http://schemas.openxmlformats.org/drawingml/2006/main">
              <a:ext uri="{FF2B5EF4-FFF2-40B4-BE49-F238E27FC236}">
                <a16:creationId xmlns:a16="http://schemas.microsoft.com/office/drawing/2014/main" id="{2661538B-717D-476B-B372-B0E98A59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24100"/>
            <a:ext cx="3714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Bₚ = τ² Iₖ</a:t>
            </a:r>
          </a:p>
        </p:txBody>
      </p:sp>
      <p:sp>
        <p:nvSpPr>
          <p:cNvPr id="6" name="cov-current-body">
            <a:extLst xmlns:a="http://schemas.openxmlformats.org/drawingml/2006/main">
              <a:ext uri="{FF2B5EF4-FFF2-40B4-BE49-F238E27FC236}">
                <a16:creationId xmlns:a16="http://schemas.microsoft.com/office/drawing/2014/main" id="{88620823-BBAD-4865-835B-ED39A73F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209925"/>
            <a:ext cx="4286250" cy="657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reduced regions K=25     DFS 5.9260
cellwise-I K=1,813     DFS 4.9420</a:t>
            </a:r>
          </a:p>
        </p:txBody>
      </p:sp>
      <p:sp>
        <p:nvSpPr>
          <p:cNvPr id="7" name="cov-current-note">
            <a:extLst xmlns:a="http://schemas.openxmlformats.org/drawingml/2006/main">
              <a:ext uri="{FF2B5EF4-FFF2-40B4-BE49-F238E27FC236}">
                <a16:creationId xmlns:a16="http://schemas.microsoft.com/office/drawing/2014/main" id="{ABEB2773-A8B1-4B03-A379-3461F299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14775"/>
            <a:ext cx="4286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Reduced: τ²I per region + summed columns.
Cellwise-I: independent τ²I per cell.</a:t>
            </a:r>
          </a:p>
        </p:txBody>
      </p:sp>
      <p:sp>
        <p:nvSpPr>
          <p:cNvPr id="8" name="cov-target-label">
            <a:extLst xmlns:a="http://schemas.openxmlformats.org/drawingml/2006/main">
              <a:ext uri="{FF2B5EF4-FFF2-40B4-BE49-F238E27FC236}">
                <a16:creationId xmlns:a16="http://schemas.microsoft.com/office/drawing/2014/main" id="{18A50258-DEE5-42A1-A534-06AE71A5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3714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SCALE-CONSISTENT TARGET</a:t>
            </a:r>
          </a:p>
        </p:txBody>
      </p:sp>
      <p:sp>
        <p:nvSpPr>
          <p:cNvPr id="9" name="cov-target-formula">
            <a:extLst xmlns:a="http://schemas.openxmlformats.org/drawingml/2006/main">
              <a:ext uri="{FF2B5EF4-FFF2-40B4-BE49-F238E27FC236}">
                <a16:creationId xmlns:a16="http://schemas.microsoft.com/office/drawing/2014/main" id="{1BC906F4-F088-4DE8-AE00-2C9A1FAC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24100"/>
            <a:ext cx="4286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Bₚ = P B Pᵀ</a:t>
            </a:r>
          </a:p>
        </p:txBody>
      </p:sp>
      <p:sp>
        <p:nvSpPr>
          <p:cNvPr id="10" name="cov-target-body">
            <a:extLst xmlns:a="http://schemas.openxmlformats.org/drawingml/2006/main">
              <a:ext uri="{FF2B5EF4-FFF2-40B4-BE49-F238E27FC236}">
                <a16:creationId xmlns:a16="http://schemas.microsoft.com/office/drawing/2014/main" id="{7E350BB2-5D28-481E-8046-C19A1476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4572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Project fine-grid covariance B with consistent prolongation and normalization.</a:t>
            </a:r>
          </a:p>
        </p:txBody>
      </p:sp>
      <p:sp>
        <p:nvSpPr>
          <p:cNvPr id="11" name="cov-conclusion">
            <a:extLst xmlns:a="http://schemas.openxmlformats.org/drawingml/2006/main">
              <a:ext uri="{FF2B5EF4-FFF2-40B4-BE49-F238E27FC236}">
                <a16:creationId xmlns:a16="http://schemas.microsoft.com/office/drawing/2014/main" id="{9ADABBA1-65AA-4761-8880-888B9D82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53000"/>
            <a:ext cx="114109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Reduced signal covariance contains cross-cell terms, so 4.942 is neither a bound nor a maximum. Bₚ=PBPᵀ plus consistent projection, prolongation, and normalization are required before a meaningful no-reduction upper reference exists.</a:t>
            </a:r>
          </a:p>
        </p:txBody>
      </p:sp>
      <p:sp>
        <p:nvSpPr>
          <p:cNvPr id="12" name="method-source">
            <a:extLst xmlns:a="http://schemas.openxmlformats.org/drawingml/2006/main">
              <a:ext uri="{FF2B5EF4-FFF2-40B4-BE49-F238E27FC236}">
                <a16:creationId xmlns:a16="http://schemas.microsoft.com/office/drawing/2014/main" id="{7CB04E36-D7CB-482F-833A-2E7ADE0B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29375"/>
            <a:ext cx="10668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full-week manifest; covariance design inspired by Bocquet, Wu &amp; Chevallier.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0D06DC-1509-4621-AC2A-1F9FC7D4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506661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A2595D-C76A-4949-A692-EF9FB51E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11410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The POC now covers fixed and variable K</a:t>
            </a:r>
          </a:p>
        </p:txBody>
      </p:sp>
      <p:sp>
        <p:nvSpPr>
          <p:cNvPr id="2" name="status-now-label">
            <a:extLst xmlns:a="http://schemas.openxmlformats.org/drawingml/2006/main">
              <a:ext uri="{FF2B5EF4-FFF2-40B4-BE49-F238E27FC236}">
                <a16:creationId xmlns:a16="http://schemas.microsoft.com/office/drawing/2014/main" id="{E13AFDB3-1F76-4FBC-94C6-E81557D8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37160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13B"/>
                </a:solidFill>
                <a:latin typeface="Helvetica Neue"/>
                <a:ea typeface="Helvetica Neue"/>
                <a:cs typeface="Helvetica Neue"/>
              </a:defRPr>
            </a:pPr>
            <a:r>
              <a:t>WORKING NOW</a:t>
            </a:r>
          </a:p>
        </p:txBody>
      </p:sp>
      <p:sp>
        <p:nvSpPr>
          <p:cNvPr id="3" name="status-now-body">
            <a:extLst xmlns:a="http://schemas.openxmlformats.org/drawingml/2006/main">
              <a:ext uri="{FF2B5EF4-FFF2-40B4-BE49-F238E27FC236}">
                <a16:creationId xmlns:a16="http://schemas.microsoft.com/office/drawing/2014/main" id="{C104FCF9-F7E7-4977-B190-37FCC1CC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85950"/>
            <a:ext cx="4476750" cy="3238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Dyadic tree + multiscale design
Proxy-greedy and random starts
Fixed-K paired search (47 rows)
Variable-K independent split/merge
2,000-evaluation full-week run</a:t>
            </a:r>
          </a:p>
        </p:txBody>
      </p:sp>
      <p:cxnSp>
        <p:nvCxnSpPr>
          <p:cNvPr id="23" name="status-divider"/>
          <p:cNvCxnSpPr/>
          <p:nvPr/>
        </p:nvCxnSpPr>
        <p:spPr>
          <a:xfrm xmlns:a="http://schemas.openxmlformats.org/drawingml/2006/main">
            <a:off x="5334000" y="1381125"/>
            <a:ext cx="95" cy="40957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status-next-label">
            <a:extLst xmlns:a="http://schemas.openxmlformats.org/drawingml/2006/main">
              <a:ext uri="{FF2B5EF4-FFF2-40B4-BE49-F238E27FC236}">
                <a16:creationId xmlns:a16="http://schemas.microsoft.com/office/drawing/2014/main" id="{6AAD8D22-6AFB-4AEF-AD6E-4B355525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3716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NEXT EXPERIMENTS</a:t>
            </a:r>
          </a:p>
        </p:txBody>
      </p:sp>
      <p:sp>
        <p:nvSpPr>
          <p:cNvPr id="6" name="next-1-num">
            <a:extLst xmlns:a="http://schemas.openxmlformats.org/drawingml/2006/main">
              <a:ext uri="{FF2B5EF4-FFF2-40B4-BE49-F238E27FC236}">
                <a16:creationId xmlns:a16="http://schemas.microsoft.com/office/drawing/2014/main" id="{FE4018B7-1E10-47B4-B314-CD6234C8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943100"/>
            <a:ext cx="4286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7" name="next-1-title">
            <a:extLst xmlns:a="http://schemas.openxmlformats.org/drawingml/2006/main">
              <a:ext uri="{FF2B5EF4-FFF2-40B4-BE49-F238E27FC236}">
                <a16:creationId xmlns:a16="http://schemas.microsoft.com/office/drawing/2014/main" id="{0F197381-00EF-46FD-AF7B-97E22174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9431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Projected covariance</a:t>
            </a:r>
          </a:p>
        </p:txBody>
      </p:sp>
      <p:sp>
        <p:nvSpPr>
          <p:cNvPr id="8" name="next-1-body">
            <a:extLst xmlns:a="http://schemas.openxmlformats.org/drawingml/2006/main">
              <a:ext uri="{FF2B5EF4-FFF2-40B4-BE49-F238E27FC236}">
                <a16:creationId xmlns:a16="http://schemas.microsoft.com/office/drawing/2014/main" id="{3C668775-D0C3-41E1-9F30-3740ED81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98120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Implement Bₚ=PBPᵀ with consistent mapping and normalization</a:t>
            </a:r>
          </a:p>
        </p:txBody>
      </p:sp>
      <p:sp>
        <p:nvSpPr>
          <p:cNvPr id="9" name="next-2-num">
            <a:extLst xmlns:a="http://schemas.openxmlformats.org/drawingml/2006/main">
              <a:ext uri="{FF2B5EF4-FFF2-40B4-BE49-F238E27FC236}">
                <a16:creationId xmlns:a16="http://schemas.microsoft.com/office/drawing/2014/main" id="{F0371B96-D623-4EFD-A809-316A63F4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695575"/>
            <a:ext cx="4286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10" name="next-2-title">
            <a:extLst xmlns:a="http://schemas.openxmlformats.org/drawingml/2006/main">
              <a:ext uri="{FF2B5EF4-FFF2-40B4-BE49-F238E27FC236}">
                <a16:creationId xmlns:a16="http://schemas.microsoft.com/office/drawing/2014/main" id="{097F29AE-1259-4406-B787-19F3D28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695575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Land / sea</a:t>
            </a:r>
          </a:p>
        </p:txBody>
      </p:sp>
      <p:sp>
        <p:nvSpPr>
          <p:cNvPr id="11" name="next-2-body">
            <a:extLst xmlns:a="http://schemas.openxmlformats.org/drawingml/2006/main">
              <a:ext uri="{FF2B5EF4-FFF2-40B4-BE49-F238E27FC236}">
                <a16:creationId xmlns:a16="http://schemas.microsoft.com/office/drawing/2014/main" id="{AAF4FA6E-60FA-4198-AA9A-C0AE3298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733675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Diagnose boundary crossing or impose an explicit constraint</a:t>
            </a:r>
          </a:p>
        </p:txBody>
      </p:sp>
      <p:sp>
        <p:nvSpPr>
          <p:cNvPr id="12" name="next-3-num">
            <a:extLst xmlns:a="http://schemas.openxmlformats.org/drawingml/2006/main">
              <a:ext uri="{FF2B5EF4-FFF2-40B4-BE49-F238E27FC236}">
                <a16:creationId xmlns:a16="http://schemas.microsoft.com/office/drawing/2014/main" id="{DBF6138E-D531-4C69-B1F0-C8922D94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448050"/>
            <a:ext cx="4286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13" name="next-3-title">
            <a:extLst xmlns:a="http://schemas.openxmlformats.org/drawingml/2006/main">
              <a:ext uri="{FF2B5EF4-FFF2-40B4-BE49-F238E27FC236}">
                <a16:creationId xmlns:a16="http://schemas.microsoft.com/office/drawing/2014/main" id="{261F6606-F367-458C-82A9-4AF75B3A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4480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Search robustness</a:t>
            </a:r>
          </a:p>
        </p:txBody>
      </p:sp>
      <p:sp>
        <p:nvSpPr>
          <p:cNvPr id="14" name="next-3-body">
            <a:extLst xmlns:a="http://schemas.openxmlformats.org/drawingml/2006/main">
              <a:ext uri="{FF2B5EF4-FFF2-40B4-BE49-F238E27FC236}">
                <a16:creationId xmlns:a16="http://schemas.microsoft.com/office/drawing/2014/main" id="{7A15A36B-3FDB-4281-9EA4-5B6AA7F5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486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Multiple seeds, longer runs, decoupled schedule calibration</a:t>
            </a:r>
          </a:p>
        </p:txBody>
      </p:sp>
      <p:sp>
        <p:nvSpPr>
          <p:cNvPr id="15" name="next-4-num">
            <a:extLst xmlns:a="http://schemas.openxmlformats.org/drawingml/2006/main">
              <a:ext uri="{FF2B5EF4-FFF2-40B4-BE49-F238E27FC236}">
                <a16:creationId xmlns:a16="http://schemas.microsoft.com/office/drawing/2014/main" id="{BB276CEA-8AC5-4D5F-B796-6A585B9B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200525"/>
            <a:ext cx="4286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16" name="next-4-title">
            <a:extLst xmlns:a="http://schemas.openxmlformats.org/drawingml/2006/main">
              <a:ext uri="{FF2B5EF4-FFF2-40B4-BE49-F238E27FC236}">
                <a16:creationId xmlns:a16="http://schemas.microsoft.com/office/drawing/2014/main" id="{D5763991-3856-4776-97FB-B8CDFF12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200525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Posterior integration</a:t>
            </a:r>
          </a:p>
        </p:txBody>
      </p:sp>
      <p:sp>
        <p:nvSpPr>
          <p:cNvPr id="17" name="next-4-body">
            <a:extLst xmlns:a="http://schemas.openxmlformats.org/drawingml/2006/main">
              <a:ext uri="{FF2B5EF4-FFF2-40B4-BE49-F238E27FC236}">
                <a16:creationId xmlns:a16="http://schemas.microsoft.com/office/drawing/2014/main" id="{4BF6FF45-4D9D-410B-8A04-9DB0390C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4238625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Combine partition updates with continuous inference</a:t>
            </a:r>
          </a:p>
        </p:txBody>
      </p:sp>
      <p:sp>
        <p:nvSpPr>
          <p:cNvPr id="18" name="method-source">
            <a:extLst xmlns:a="http://schemas.openxmlformats.org/drawingml/2006/main">
              <a:ext uri="{FF2B5EF4-FFF2-40B4-BE49-F238E27FC236}">
                <a16:creationId xmlns:a16="http://schemas.microsoft.com/office/drawing/2014/main" id="{934E8861-0CF4-4BAD-ABB0-EB66E6D2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29375"/>
            <a:ext cx="10668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Status: dyadic_sls_hackathon.md; background: dyadic_partition_inference.md.</a:t>
            </a:r>
          </a:p>
        </p:txBody>
      </p:sp>
      <p:sp>
        <p:nvSpPr>
          <p:cNvPr id="1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36B454-7887-479F-A133-24F6DFE6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941726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akeaway-eyebrow">
            <a:extLst xmlns:a="http://schemas.openxmlformats.org/drawingml/2006/main">
              <a:ext uri="{FF2B5EF4-FFF2-40B4-BE49-F238E27FC236}">
                <a16:creationId xmlns:a16="http://schemas.microsoft.com/office/drawing/2014/main" id="{202E8E79-204C-4242-B53E-F6DE7F53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5720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TAKEAWAY</a:t>
            </a:r>
          </a:p>
        </p:txBody>
      </p:sp>
      <p:sp>
        <p:nvSpPr>
          <p:cNvPr id="2" name="takeaway-title">
            <a:extLst xmlns:a="http://schemas.openxmlformats.org/drawingml/2006/main">
              <a:ext uri="{FF2B5EF4-FFF2-40B4-BE49-F238E27FC236}">
                <a16:creationId xmlns:a16="http://schemas.microsoft.com/office/drawing/2014/main" id="{FE293DFC-C84C-454A-BA5B-465D728C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106680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93863"/>
          </a:bodyPr>
          <a:lstStyle xmlns:a="http://schemas.openxmlformats.org/drawingml/2006/main"/>
          <a:p xmlns:a="http://schemas.openxmlformats.org/drawingml/2006/main">
            <a:pPr algn="l">
              <a:defRPr sz="4800" b="0">
                <a:solidFill>
                  <a:srgbClr val="0B0D0F"/>
                </a:solidFill>
                <a:latin typeface="Helvetica Neue"/>
                <a:ea typeface="Helvetica Neue"/>
                <a:cs typeface="Helvetica Neue"/>
              </a:defRPr>
            </a:pPr>
            <a:r>
              <a:t>The longer search improves DFS at K=25;
retained-information claims must wait.</a:t>
            </a:r>
          </a:p>
        </p:txBody>
      </p:sp>
      <p:cxnSp>
        <p:nvCxnSpPr>
          <p:cNvPr id="8" name="takeaway-rule"/>
          <p:cNvCxnSpPr/>
          <p:nvPr/>
        </p:nvCxnSpPr>
        <p:spPr>
          <a:xfrm xmlns:a="http://schemas.openxmlformats.org/drawingml/2006/main">
            <a:off x="390525" y="3876675"/>
            <a:ext cx="114109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0F"/>
            </a:solidFill>
            <a:prstDash val="solid"/>
          </a:ln>
        </p:spPr>
      </p:cxnSp>
      <p:sp>
        <p:nvSpPr>
          <p:cNvPr id="4" name="takeaway-body">
            <a:extLst xmlns:a="http://schemas.openxmlformats.org/drawingml/2006/main">
              <a:ext uri="{FF2B5EF4-FFF2-40B4-BE49-F238E27FC236}">
                <a16:creationId xmlns:a16="http://schemas.microsoft.com/office/drawing/2014/main" id="{C1281ECB-066D-44ED-92B8-FB1AF092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62450"/>
            <a:ext cx="990600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Next: Bₚ=PBPᵀ with consistent mapping, then multi-seed robustness, land/sea treatment, and posterior integration.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FBECEC7-0E50-4E89-8FC2-3FE400A5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57950"/>
            <a:ext cx="447675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986430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2026-07-17T11:45:52.9680000Z</dcterms:created>
  <dcterms:modified xsi:type="dcterms:W3CDTF">2026-07-17T11:45:52.9680000Z</dcterms:modified>
</coreProperties>
</file>