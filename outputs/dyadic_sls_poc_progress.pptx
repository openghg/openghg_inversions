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0780b00ffa4eec" /><Relationship Type="http://schemas.openxmlformats.org/officeDocument/2006/relationships/extended-properties" Target="/docProps/app.xml" Id="R64c16ad62aa74b64" /><Relationship Type="http://schemas.openxmlformats.org/officeDocument/2006/relationships/officeDocument" Target="/ppt/presentation.xml" Id="R21d9e63dc49a46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8e704c648449a3"/>
  </p:sldMasterIdLst>
  <p:notesMasterIdLst>
    <p:notesMasterId xmlns:r="http://schemas.openxmlformats.org/officeDocument/2006/relationships" r:id="R5a422855a5ca46e6"/>
  </p:notesMasterIdLst>
  <p:sldIdLst>
    <p:sldId xmlns:r="http://schemas.openxmlformats.org/officeDocument/2006/relationships" id="256" r:id="R79748013409a4c4e"/>
    <p:sldId xmlns:r="http://schemas.openxmlformats.org/officeDocument/2006/relationships" id="257" r:id="Rc80b5c26fa3c49af"/>
    <p:sldId xmlns:r="http://schemas.openxmlformats.org/officeDocument/2006/relationships" id="258" r:id="R572c233d25cd40e1"/>
    <p:sldId xmlns:r="http://schemas.openxmlformats.org/officeDocument/2006/relationships" id="259" r:id="R7346c33bd1064736"/>
    <p:sldId xmlns:r="http://schemas.openxmlformats.org/officeDocument/2006/relationships" id="260" r:id="Rbd7daef53d664c1d"/>
    <p:sldId xmlns:r="http://schemas.openxmlformats.org/officeDocument/2006/relationships" id="261" r:id="R46c426dda0c744a9"/>
    <p:sldId xmlns:r="http://schemas.openxmlformats.org/officeDocument/2006/relationships" id="262" r:id="R8f19455b27f048b1"/>
    <p:sldId xmlns:r="http://schemas.openxmlformats.org/officeDocument/2006/relationships" id="263" r:id="R20a1f16cca5e415f"/>
    <p:sldId xmlns:r="http://schemas.openxmlformats.org/officeDocument/2006/relationships" id="264" r:id="Rbf681a1ac6c84843"/>
    <p:sldId xmlns:r="http://schemas.openxmlformats.org/officeDocument/2006/relationships" id="265" r:id="R9b2037861f8242b9"/>
    <p:sldId xmlns:r="http://schemas.openxmlformats.org/officeDocument/2006/relationships" id="266" r:id="Ra02eb91118874d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6ec22e497846e3" /><Relationship Type="http://schemas.openxmlformats.org/officeDocument/2006/relationships/slideMaster" Target="/ppt/slideMasters/slideMaster1.xml" Id="Rbf8e704c648449a3" /><Relationship Type="http://schemas.openxmlformats.org/officeDocument/2006/relationships/notesMaster" Target="/ppt/notesMasters/notesMaster1.xml" Id="R5a422855a5ca46e6" /><Relationship Type="http://schemas.openxmlformats.org/officeDocument/2006/relationships/presProps" Target="/ppt/presProps.xml" Id="R2bc4e81061214361" /><Relationship Type="http://schemas.openxmlformats.org/officeDocument/2006/relationships/tableStyles" Target="/ppt/tableStyles.xml" Id="Re8df5f7c2391447e" /><Relationship Type="http://schemas.openxmlformats.org/officeDocument/2006/relationships/slide" Target="/ppt/slides/slide1.xml" Id="R79748013409a4c4e" /><Relationship Type="http://schemas.openxmlformats.org/officeDocument/2006/relationships/slide" Target="/ppt/slides/slide2.xml" Id="Rc80b5c26fa3c49af" /><Relationship Type="http://schemas.openxmlformats.org/officeDocument/2006/relationships/slide" Target="/ppt/slides/slide3.xml" Id="R572c233d25cd40e1" /><Relationship Type="http://schemas.openxmlformats.org/officeDocument/2006/relationships/slide" Target="/ppt/slides/slide4.xml" Id="R7346c33bd1064736" /><Relationship Type="http://schemas.openxmlformats.org/officeDocument/2006/relationships/slide" Target="/ppt/slides/slide5.xml" Id="Rbd7daef53d664c1d" /><Relationship Type="http://schemas.openxmlformats.org/officeDocument/2006/relationships/slide" Target="/ppt/slides/slide6.xml" Id="R46c426dda0c744a9" /><Relationship Type="http://schemas.openxmlformats.org/officeDocument/2006/relationships/slide" Target="/ppt/slides/slide7.xml" Id="R8f19455b27f048b1" /><Relationship Type="http://schemas.openxmlformats.org/officeDocument/2006/relationships/slide" Target="/ppt/slides/slide8.xml" Id="R20a1f16cca5e415f" /><Relationship Type="http://schemas.openxmlformats.org/officeDocument/2006/relationships/slide" Target="/ppt/slides/slide9.xml" Id="Rbf681a1ac6c84843" /><Relationship Type="http://schemas.openxmlformats.org/officeDocument/2006/relationships/slide" Target="/ppt/slides/slide10.xml" Id="R9b2037861f8242b9" /><Relationship Type="http://schemas.openxmlformats.org/officeDocument/2006/relationships/slide" Target="/ppt/slides/slide11.xml" Id="Ra02eb9111887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d33727142a4f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df9c185d4d498b" /><Relationship Type="http://schemas.openxmlformats.org/officeDocument/2006/relationships/notesMaster" Target="/ppt/notesMasters/notesMaster1.xml" Id="Re03bd1e8a3884a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75aa3df46474b" /><Relationship Type="http://schemas.openxmlformats.org/officeDocument/2006/relationships/notesMaster" Target="/ppt/notesMasters/notesMaster1.xml" Id="Rea652e4c351f4d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19262fe51640a3" /><Relationship Type="http://schemas.openxmlformats.org/officeDocument/2006/relationships/notesMaster" Target="/ppt/notesMasters/notesMaster1.xml" Id="R84333ed6816e45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3050b1f0a94007" /><Relationship Type="http://schemas.openxmlformats.org/officeDocument/2006/relationships/notesMaster" Target="/ppt/notesMasters/notesMaster1.xml" Id="Rdaaffeca4eaa4c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8dc30eb0e84d25" /><Relationship Type="http://schemas.openxmlformats.org/officeDocument/2006/relationships/notesMaster" Target="/ppt/notesMasters/notesMaster1.xml" Id="Rf269dfb8e86f4c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9af7f4519a4ad1" /><Relationship Type="http://schemas.openxmlformats.org/officeDocument/2006/relationships/notesMaster" Target="/ppt/notesMasters/notesMaster1.xml" Id="Rb4ecb5cdf61f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04f834e0af4c9f" /><Relationship Type="http://schemas.openxmlformats.org/officeDocument/2006/relationships/notesMaster" Target="/ppt/notesMasters/notesMaster1.xml" Id="Rae71a046b43741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26a2dba3d34c38" /><Relationship Type="http://schemas.openxmlformats.org/officeDocument/2006/relationships/notesMaster" Target="/ppt/notesMasters/notesMaster1.xml" Id="R01243676705f45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8affe81cfa420e" /><Relationship Type="http://schemas.openxmlformats.org/officeDocument/2006/relationships/notesMaster" Target="/ppt/notesMasters/notesMaster1.xml" Id="R5c069cd0455142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d30250dfb44cda" /><Relationship Type="http://schemas.openxmlformats.org/officeDocument/2006/relationships/notesMaster" Target="/ppt/notesMasters/notesMaster1.xml" Id="R1f1bb9728cab4e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00c549da704042" /><Relationship Type="http://schemas.openxmlformats.org/officeDocument/2006/relationships/notesMaster" Target="/ppt/notesMasters/notesMaster1.xml" Id="Rc0d89461e93a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4a60558eb4d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b7b753b4594ed0" /><Relationship Type="http://schemas.openxmlformats.org/officeDocument/2006/relationships/slideLayout" Target="/ppt/slideLayouts/slideLayout1.xml" Id="R706969d9fb9f4d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6969d9fb9f4d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d81b7a16044c4" /><Relationship Type="http://schemas.openxmlformats.org/officeDocument/2006/relationships/notesSlide" Target="/ppt/notesSlides/notesSlide1.xml" Id="Reb4e07acd53045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780c7d1b5424a" /><Relationship Type="http://schemas.openxmlformats.org/officeDocument/2006/relationships/notesSlide" Target="/ppt/notesSlides/notesSlide2.xml" Id="Rc48dcb7417f8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845911a4b454a" /><Relationship Type="http://schemas.openxmlformats.org/officeDocument/2006/relationships/notesSlide" Target="/ppt/notesSlides/notesSlide3.xml" Id="R096239abe92542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a1e9668aa496c" /><Relationship Type="http://schemas.openxmlformats.org/officeDocument/2006/relationships/notesSlide" Target="/ppt/notesSlides/notesSlide4.xml" Id="R81b89d355e3745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8b4b41aa74ba2" /><Relationship Type="http://schemas.openxmlformats.org/officeDocument/2006/relationships/image" Target="/ppt/media/image.png" Id="R23cc1bdaa752484b" /><Relationship Type="http://schemas.openxmlformats.org/officeDocument/2006/relationships/notesSlide" Target="/ppt/notesSlides/notesSlide5.xml" Id="R33ea4419042e42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7bd9da98242a8" /><Relationship Type="http://schemas.openxmlformats.org/officeDocument/2006/relationships/notesSlide" Target="/ppt/notesSlides/notesSlide6.xml" Id="R78c486189d5646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2e80ae6e54b0d" /><Relationship Type="http://schemas.openxmlformats.org/officeDocument/2006/relationships/image" Target="/ppt/media/image2.png" Id="R5fea29afe40b487c" /><Relationship Type="http://schemas.openxmlformats.org/officeDocument/2006/relationships/notesSlide" Target="/ppt/notesSlides/notesSlide7.xml" Id="R2d67d2debc4649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e4dc33122439b" /><Relationship Type="http://schemas.openxmlformats.org/officeDocument/2006/relationships/image" Target="/ppt/media/image3.png" Id="Rbee806d978074548" /><Relationship Type="http://schemas.openxmlformats.org/officeDocument/2006/relationships/notesSlide" Target="/ppt/notesSlides/notesSlide8.xml" Id="R8e5f941d7acd43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36cdb1e424a1c" /><Relationship Type="http://schemas.openxmlformats.org/officeDocument/2006/relationships/notesSlide" Target="/ppt/notesSlides/notesSlide9.xml" Id="Rbc8666286e9840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4d3a04bf94d3e" /><Relationship Type="http://schemas.openxmlformats.org/officeDocument/2006/relationships/notesSlide" Target="/ppt/notesSlides/notesSlide10.xml" Id="R19e93cd470624a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a3a718d95493f" /><Relationship Type="http://schemas.openxmlformats.org/officeDocument/2006/relationships/notesSlide" Target="/ppt/notesSlides/notesSlide11.xml" Id="Rbb0c602a11194b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BA9F034-14C0-4BB8-9F19-493ADA57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609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ATMOSPHERIC INVERSION METHODS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027FAAB-E93A-45D2-ADAD-DA41268D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0001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96235"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Optimising dyadic basis partitions
with stochastic local search</a:t>
            </a:r>
          </a:p>
        </p:txBody>
      </p:sp>
      <p:cxnSp>
        <p:nvCxnSpPr>
          <p:cNvPr id="8" name="cover-rule"/>
          <p:cNvCxnSpPr/>
          <p:nvPr/>
        </p:nvCxnSpPr>
        <p:spPr>
          <a:xfrm xmlns:a="http://schemas.openxmlformats.org/drawingml/2006/main">
            <a:off x="390525" y="4438650"/>
            <a:ext cx="11410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3A7B825-ADCC-4B8C-ACCA-DC521DD7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666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TAC/MHD proof of concept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6E4000C6-0988-41C7-8A32-0AF3A8F3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054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492193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96C60F-B54E-41CB-8BAE-C8C3BA25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Basis partitions decide where resolution is spent</a:t>
            </a:r>
          </a:p>
        </p:txBody>
      </p:sp>
      <p:sp>
        <p:nvSpPr>
          <p:cNvPr id="2" name="motivation-claim">
            <a:extLst xmlns:a="http://schemas.openxmlformats.org/drawingml/2006/main">
              <a:ext uri="{FF2B5EF4-FFF2-40B4-BE49-F238E27FC236}">
                <a16:creationId xmlns:a16="http://schemas.microsoft.com/office/drawing/2014/main" id="{AAE4D7D6-2895-4448-8AE3-F161EC5B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4857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A fixed grid treats every location as equally worth resolving.</a:t>
            </a:r>
          </a:p>
        </p:txBody>
      </p:sp>
      <p:sp>
        <p:nvSpPr>
          <p:cNvPr id="3" name="motivation-body">
            <a:extLst xmlns:a="http://schemas.openxmlformats.org/drawingml/2006/main">
              <a:ext uri="{FF2B5EF4-FFF2-40B4-BE49-F238E27FC236}">
                <a16:creationId xmlns:a16="http://schemas.microsoft.com/office/drawing/2014/main" id="{8F6AD7F9-819C-4347-98BD-DCE5A231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38425"/>
            <a:ext cx="4857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A data-informed partition can reserve state-vector capacity for regions where footprint–flux sensitivities support it.</a:t>
            </a:r>
          </a:p>
        </p:txBody>
      </p:sp>
      <p:sp>
        <p:nvSpPr>
          <p:cNvPr id="4" name="fixed-label">
            <a:extLst xmlns:a="http://schemas.openxmlformats.org/drawingml/2006/main">
              <a:ext uri="{FF2B5EF4-FFF2-40B4-BE49-F238E27FC236}">
                <a16:creationId xmlns:a16="http://schemas.microsoft.com/office/drawing/2014/main" id="{14A40F0D-1527-4739-BAAC-D6A29669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62075"/>
            <a:ext cx="1952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fixed grid</a:t>
            </a:r>
          </a:p>
        </p:txBody>
      </p:sp>
      <p:sp>
        <p:nvSpPr>
          <p:cNvPr id="5" name="adaptive-label">
            <a:extLst xmlns:a="http://schemas.openxmlformats.org/drawingml/2006/main">
              <a:ext uri="{FF2B5EF4-FFF2-40B4-BE49-F238E27FC236}">
                <a16:creationId xmlns:a16="http://schemas.microsoft.com/office/drawing/2014/main" id="{2EFDB028-A745-4EA1-848E-B22B0592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62075"/>
            <a:ext cx="2238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adaptive partition</a:t>
            </a:r>
          </a:p>
        </p:txBody>
      </p:sp>
      <p:sp>
        <p:nvSpPr>
          <p:cNvPr id="6" name="transition-arrow">
            <a:extLst xmlns:a="http://schemas.openxmlformats.org/drawingml/2006/main">
              <a:ext uri="{FF2B5EF4-FFF2-40B4-BE49-F238E27FC236}">
                <a16:creationId xmlns:a16="http://schemas.microsoft.com/office/drawing/2014/main" id="{3FEA7894-4748-4235-A368-3E68B82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0325"/>
            <a:ext cx="400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7" name="motivation-question">
            <a:extLst xmlns:a="http://schemas.openxmlformats.org/drawingml/2006/main">
              <a:ext uri="{FF2B5EF4-FFF2-40B4-BE49-F238E27FC236}">
                <a16:creationId xmlns:a16="http://schemas.microsoft.com/office/drawing/2014/main" id="{C5259DFD-C7A3-499D-A03C-7497E31D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Question: can local search improve a useful, physically structured starting partition?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B41343-83F6-4DEB-BE61-652B73AD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9" name="grid-outline">
            <a:extLst xmlns:a="http://schemas.openxmlformats.org/drawingml/2006/main">
              <a:ext uri="{FF2B5EF4-FFF2-40B4-BE49-F238E27FC236}">
                <a16:creationId xmlns:a16="http://schemas.microsoft.com/office/drawing/2014/main" id="{83989057-742B-41A9-8DD6-FCE859C3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9050">
            <a:solidFill>
              <a:srgbClr val="0B0D0F"/>
            </a:solidFill>
            <a:prstDash val="solid"/>
          </a:ln>
        </p:spPr>
      </p:sp>
      <p:cxnSp>
        <p:nvCxnSpPr>
          <p:cNvPr id="36" name="grid-v"/>
          <p:cNvCxnSpPr/>
          <p:nvPr/>
        </p:nvCxnSpPr>
        <p:spPr>
          <a:xfrm xmlns:a="http://schemas.openxmlformats.org/drawingml/2006/main">
            <a:off x="6696075" y="1809750"/>
            <a:ext cx="95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7" name="grid-v"/>
          <p:cNvCxnSpPr/>
          <p:nvPr/>
        </p:nvCxnSpPr>
        <p:spPr>
          <a:xfrm xmlns:a="http://schemas.openxmlformats.org/drawingml/2006/main">
            <a:off x="7124700" y="1809750"/>
            <a:ext cx="95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8" name="grid-v"/>
          <p:cNvCxnSpPr/>
          <p:nvPr/>
        </p:nvCxnSpPr>
        <p:spPr>
          <a:xfrm xmlns:a="http://schemas.openxmlformats.org/drawingml/2006/main">
            <a:off x="7553325" y="1809750"/>
            <a:ext cx="95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9" name="grid-v"/>
          <p:cNvCxnSpPr/>
          <p:nvPr/>
        </p:nvCxnSpPr>
        <p:spPr>
          <a:xfrm xmlns:a="http://schemas.openxmlformats.org/drawingml/2006/main">
            <a:off x="7981950" y="1809750"/>
            <a:ext cx="95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0" name="grid-h"/>
          <p:cNvCxnSpPr/>
          <p:nvPr/>
        </p:nvCxnSpPr>
        <p:spPr>
          <a:xfrm xmlns:a="http://schemas.openxmlformats.org/drawingml/2006/main">
            <a:off x="6267450" y="2206625"/>
            <a:ext cx="21431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1" name="grid-h"/>
          <p:cNvCxnSpPr/>
          <p:nvPr/>
        </p:nvCxnSpPr>
        <p:spPr>
          <a:xfrm xmlns:a="http://schemas.openxmlformats.org/drawingml/2006/main">
            <a:off x="6267450" y="2603500"/>
            <a:ext cx="21431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2" name="grid-h"/>
          <p:cNvCxnSpPr/>
          <p:nvPr/>
        </p:nvCxnSpPr>
        <p:spPr>
          <a:xfrm xmlns:a="http://schemas.openxmlformats.org/drawingml/2006/main">
            <a:off x="6267450" y="3000375"/>
            <a:ext cx="21431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3" name="grid-h"/>
          <p:cNvCxnSpPr/>
          <p:nvPr/>
        </p:nvCxnSpPr>
        <p:spPr>
          <a:xfrm xmlns:a="http://schemas.openxmlformats.org/drawingml/2006/main">
            <a:off x="6267450" y="3397250"/>
            <a:ext cx="21431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4" name="grid-h"/>
          <p:cNvCxnSpPr/>
          <p:nvPr/>
        </p:nvCxnSpPr>
        <p:spPr>
          <a:xfrm xmlns:a="http://schemas.openxmlformats.org/drawingml/2006/main">
            <a:off x="6267450" y="3794125"/>
            <a:ext cx="21431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sensitivity-hotspot">
            <a:extLst xmlns:a="http://schemas.openxmlformats.org/drawingml/2006/main">
              <a:ext uri="{FF2B5EF4-FFF2-40B4-BE49-F238E27FC236}">
                <a16:creationId xmlns:a16="http://schemas.microsoft.com/office/drawing/2014/main" id="{7D845F03-18A3-4A41-81BB-976A38A4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3452813"/>
            <a:ext cx="364331" cy="404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grid-outline">
            <a:extLst xmlns:a="http://schemas.openxmlformats.org/drawingml/2006/main">
              <a:ext uri="{FF2B5EF4-FFF2-40B4-BE49-F238E27FC236}">
                <a16:creationId xmlns:a16="http://schemas.microsoft.com/office/drawing/2014/main" id="{17498537-5979-42EB-A06E-FF176F3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097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9050">
            <a:solidFill>
              <a:srgbClr val="0B0D0F"/>
            </a:solidFill>
            <a:prstDash val="solid"/>
          </a:ln>
        </p:spPr>
      </p:sp>
      <p:cxnSp>
        <p:nvCxnSpPr>
          <p:cNvPr id="47" name="adapt-v1"/>
          <p:cNvCxnSpPr/>
          <p:nvPr/>
        </p:nvCxnSpPr>
        <p:spPr>
          <a:xfrm xmlns:a="http://schemas.openxmlformats.org/drawingml/2006/main">
            <a:off x="10258425" y="1809750"/>
            <a:ext cx="95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cxnSp>
        <p:nvCxnSpPr>
          <p:cNvPr id="48" name="adapt-h1"/>
          <p:cNvCxnSpPr/>
          <p:nvPr/>
        </p:nvCxnSpPr>
        <p:spPr>
          <a:xfrm xmlns:a="http://schemas.openxmlformats.org/drawingml/2006/main">
            <a:off x="9229725" y="3071813"/>
            <a:ext cx="21431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cxnSp>
        <p:nvCxnSpPr>
          <p:cNvPr id="49" name="adapt-v2"/>
          <p:cNvCxnSpPr/>
          <p:nvPr/>
        </p:nvCxnSpPr>
        <p:spPr>
          <a:xfrm xmlns:a="http://schemas.openxmlformats.org/drawingml/2006/main">
            <a:off x="10729913" y="3071813"/>
            <a:ext cx="95" cy="1119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cxnSp>
        <p:nvCxnSpPr>
          <p:cNvPr id="50" name="adapt-h2"/>
          <p:cNvCxnSpPr/>
          <p:nvPr/>
        </p:nvCxnSpPr>
        <p:spPr>
          <a:xfrm xmlns:a="http://schemas.openxmlformats.org/drawingml/2006/main">
            <a:off x="10258425" y="3595688"/>
            <a:ext cx="11144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cxnSp>
        <p:nvCxnSpPr>
          <p:cNvPr id="51" name="adapt-v3"/>
          <p:cNvCxnSpPr/>
          <p:nvPr/>
        </p:nvCxnSpPr>
        <p:spPr>
          <a:xfrm xmlns:a="http://schemas.openxmlformats.org/drawingml/2006/main">
            <a:off x="11029950" y="3595688"/>
            <a:ext cx="95" cy="595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sp>
        <p:nvSpPr>
          <p:cNvPr id="26" name="sensitivity-hotspot">
            <a:extLst xmlns:a="http://schemas.openxmlformats.org/drawingml/2006/main">
              <a:ext uri="{FF2B5EF4-FFF2-40B4-BE49-F238E27FC236}">
                <a16:creationId xmlns:a16="http://schemas.microsoft.com/office/drawing/2014/main" id="{00DFA441-CD6F-4E5F-AF46-DF53B1D7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913" y="3452813"/>
            <a:ext cx="364331" cy="404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2543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9A0659-A768-4668-80DB-2B2B1B6F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This POC tests one narrow claim</a:t>
            </a:r>
          </a:p>
        </p:txBody>
      </p:sp>
      <p:cxnSp>
        <p:nvCxnSpPr>
          <p:cNvPr id="9" name="scope-divider"/>
          <p:cNvCxnSpPr/>
          <p:nvPr/>
        </p:nvCxnSpPr>
        <p:spPr>
          <a:xfrm xmlns:a="http://schemas.openxmlformats.org/drawingml/2006/main">
            <a:off x="6096000" y="1438275"/>
            <a:ext cx="95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cope-yes">
            <a:extLst xmlns:a="http://schemas.openxmlformats.org/drawingml/2006/main">
              <a:ext uri="{FF2B5EF4-FFF2-40B4-BE49-F238E27FC236}">
                <a16:creationId xmlns:a16="http://schemas.microsoft.com/office/drawing/2014/main" id="{40D122E5-5642-412C-9739-58B420D3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14475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13B"/>
                </a:solidFill>
                <a:latin typeface="Helvetica Neue"/>
                <a:ea typeface="Helvetica Neue"/>
                <a:cs typeface="Helvetica Neue"/>
              </a:defRPr>
            </a:pPr>
            <a:r>
              <a:t>It demonstrates</a:t>
            </a:r>
          </a:p>
        </p:txBody>
      </p:sp>
      <p:sp>
        <p:nvSpPr>
          <p:cNvPr id="4" name="scope-yes-body">
            <a:extLst xmlns:a="http://schemas.openxmlformats.org/drawingml/2006/main">
              <a:ext uri="{FF2B5EF4-FFF2-40B4-BE49-F238E27FC236}">
                <a16:creationId xmlns:a16="http://schemas.microsoft.com/office/drawing/2014/main" id="{5410B416-26F6-40BB-A78B-76093545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57425"/>
            <a:ext cx="49530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TAC/MHD design construction
Proxy-greedy K=32 initialization
Stochastic improvement of Gaussian benchmark DFS
Reproducible traces and partition visualisation</a:t>
            </a:r>
          </a:p>
        </p:txBody>
      </p:sp>
      <p:sp>
        <p:nvSpPr>
          <p:cNvPr id="5" name="scope-no">
            <a:extLst xmlns:a="http://schemas.openxmlformats.org/drawingml/2006/main">
              <a:ext uri="{FF2B5EF4-FFF2-40B4-BE49-F238E27FC236}">
                <a16:creationId xmlns:a16="http://schemas.microsoft.com/office/drawing/2014/main" id="{F5D73448-545B-479F-B091-96D62402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14475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It does not claim</a:t>
            </a:r>
          </a:p>
        </p:txBody>
      </p:sp>
      <p:sp>
        <p:nvSpPr>
          <p:cNvPr id="6" name="scope-no-body">
            <a:extLst xmlns:a="http://schemas.openxmlformats.org/drawingml/2006/main">
              <a:ext uri="{FF2B5EF4-FFF2-40B4-BE49-F238E27FC236}">
                <a16:creationId xmlns:a16="http://schemas.microsoft.com/office/drawing/2014/main" id="{16AB7CA9-DD2C-463E-BA35-B27E59A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57425"/>
            <a:ext cx="49530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Posterior inference over partitions
An optimal or inferred number of regions
A Bocquet-consistent projected prior covariance
Production-equivalent observation error treatment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77CFE0-9D4B-4CAB-A2D1-D84F33AA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662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EAE658-E666-4CF3-B5F5-A45B5401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TAC/MHD footprints and CH₄ flux build the design</a:t>
            </a:r>
          </a:p>
        </p:txBody>
      </p:sp>
      <p:cxnSp>
        <p:nvCxnSpPr>
          <p:cNvPr id="23" name="pipe-1"/>
          <p:cNvCxnSpPr/>
          <p:nvPr/>
        </p:nvCxnSpPr>
        <p:spPr>
          <a:xfrm xmlns:a="http://schemas.openxmlformats.org/drawingml/2006/main">
            <a:off x="2628900" y="2886075"/>
            <a:ext cx="5238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cxnSp>
        <p:nvCxnSpPr>
          <p:cNvPr id="24" name="pipe-2"/>
          <p:cNvCxnSpPr/>
          <p:nvPr/>
        </p:nvCxnSpPr>
        <p:spPr>
          <a:xfrm xmlns:a="http://schemas.openxmlformats.org/drawingml/2006/main">
            <a:off x="5467350" y="2886075"/>
            <a:ext cx="5238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cxnSp>
        <p:nvCxnSpPr>
          <p:cNvPr id="25" name="pipe-3"/>
          <p:cNvCxnSpPr/>
          <p:nvPr/>
        </p:nvCxnSpPr>
        <p:spPr>
          <a:xfrm xmlns:a="http://schemas.openxmlformats.org/drawingml/2006/main">
            <a:off x="8305800" y="2886075"/>
            <a:ext cx="5238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sp>
        <p:nvSpPr>
          <p:cNvPr id="5" name="pipe-box-1">
            <a:extLst xmlns:a="http://schemas.openxmlformats.org/drawingml/2006/main">
              <a:ext uri="{FF2B5EF4-FFF2-40B4-BE49-F238E27FC236}">
                <a16:creationId xmlns:a16="http://schemas.microsoft.com/office/drawing/2014/main" id="{A922F2D9-9716-4572-A22A-7135C47E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71675"/>
            <a:ext cx="22383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ipe-box-2">
            <a:extLst xmlns:a="http://schemas.openxmlformats.org/drawingml/2006/main">
              <a:ext uri="{FF2B5EF4-FFF2-40B4-BE49-F238E27FC236}">
                <a16:creationId xmlns:a16="http://schemas.microsoft.com/office/drawing/2014/main" id="{25827EA0-19B9-44BF-B441-0FD06E58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971675"/>
            <a:ext cx="22383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ipe-box-3">
            <a:extLst xmlns:a="http://schemas.openxmlformats.org/drawingml/2006/main">
              <a:ext uri="{FF2B5EF4-FFF2-40B4-BE49-F238E27FC236}">
                <a16:creationId xmlns:a16="http://schemas.microsoft.com/office/drawing/2014/main" id="{995F37C1-8974-4BDF-B6AC-71C5BBF0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71675"/>
            <a:ext cx="22383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pipe-box-4">
            <a:extLst xmlns:a="http://schemas.openxmlformats.org/drawingml/2006/main">
              <a:ext uri="{FF2B5EF4-FFF2-40B4-BE49-F238E27FC236}">
                <a16:creationId xmlns:a16="http://schemas.microsoft.com/office/drawing/2014/main" id="{C991C29D-F570-4552-872E-CF68EAD0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71675"/>
            <a:ext cx="28956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98E93FBC-B23F-4323-A502-C784A624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43125"/>
            <a:ext cx="333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64809A83-3957-4136-B47F-9BC70C72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43125"/>
            <a:ext cx="333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6E4F44B7-2B4C-4A1D-952E-4B0456C8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43125"/>
            <a:ext cx="333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573931CE-8DF1-433A-AE63-C9DCAACA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333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3" name="pipe-text-1">
            <a:extLst xmlns:a="http://schemas.openxmlformats.org/drawingml/2006/main">
              <a:ext uri="{FF2B5EF4-FFF2-40B4-BE49-F238E27FC236}">
                <a16:creationId xmlns:a16="http://schemas.microsoft.com/office/drawing/2014/main" id="{D82ED8D9-347A-4978-96CD-33628E69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0325"/>
            <a:ext cx="1857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23 MHD + 24 TAC
hourly observations</a:t>
            </a:r>
          </a:p>
        </p:txBody>
      </p:sp>
      <p:sp>
        <p:nvSpPr>
          <p:cNvPr id="14" name="pipe-text-2">
            <a:extLst xmlns:a="http://schemas.openxmlformats.org/drawingml/2006/main">
              <a:ext uri="{FF2B5EF4-FFF2-40B4-BE49-F238E27FC236}">
                <a16:creationId xmlns:a16="http://schemas.microsoft.com/office/drawing/2014/main" id="{FE548D68-43E8-499B-B01B-FC983552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00325"/>
            <a:ext cx="1857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Annual CH₄
flux field</a:t>
            </a:r>
          </a:p>
        </p:txBody>
      </p:sp>
      <p:sp>
        <p:nvSpPr>
          <p:cNvPr id="15" name="pipe-text-3">
            <a:extLst xmlns:a="http://schemas.openxmlformats.org/drawingml/2006/main">
              <a:ext uri="{FF2B5EF4-FFF2-40B4-BE49-F238E27FC236}">
                <a16:creationId xmlns:a16="http://schemas.microsoft.com/office/drawing/2014/main" id="{8C551245-17B2-4185-8299-9BE0A3FA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00325"/>
            <a:ext cx="1857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Gᵢc = footprintᵢc
× fluxc × 10⁹</a:t>
            </a:r>
          </a:p>
        </p:txBody>
      </p:sp>
      <p:sp>
        <p:nvSpPr>
          <p:cNvPr id="16" name="pipe-text-4">
            <a:extLst xmlns:a="http://schemas.openxmlformats.org/drawingml/2006/main">
              <a:ext uri="{FF2B5EF4-FFF2-40B4-BE49-F238E27FC236}">
                <a16:creationId xmlns:a16="http://schemas.microsoft.com/office/drawing/2014/main" id="{9AAA756D-D786-4F1D-9001-8C6A9847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00325"/>
            <a:ext cx="23241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Sum-coarsen ×8
47×293×391 →
47×37×49</a:t>
            </a:r>
          </a:p>
        </p:txBody>
      </p:sp>
      <p:sp>
        <p:nvSpPr>
          <p:cNvPr id="17" name="r-label">
            <a:extLst xmlns:a="http://schemas.openxmlformats.org/drawingml/2006/main">
              <a:ext uri="{FF2B5EF4-FFF2-40B4-BE49-F238E27FC236}">
                <a16:creationId xmlns:a16="http://schemas.microsoft.com/office/drawing/2014/main" id="{3ED02E0A-BF20-46C9-A98F-E088D7C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34766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Benchmark observation covariance</a:t>
            </a:r>
          </a:p>
        </p:txBody>
      </p:sp>
      <p:sp>
        <p:nvSpPr>
          <p:cNvPr id="18" name="r-formula">
            <a:extLst xmlns:a="http://schemas.openxmlformats.org/drawingml/2006/main">
              <a:ext uri="{FF2B5EF4-FFF2-40B4-BE49-F238E27FC236}">
                <a16:creationId xmlns:a16="http://schemas.microsoft.com/office/drawing/2014/main" id="{39DDC7D1-D841-499B-9EC8-58330C49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95850"/>
            <a:ext cx="523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R = diag{max(error, min_error)²}</a:t>
            </a:r>
          </a:p>
        </p:txBody>
      </p:sp>
      <p:sp>
        <p:nvSpPr>
          <p:cNvPr id="19" name="r-caveat">
            <a:extLst xmlns:a="http://schemas.openxmlformats.org/drawingml/2006/main">
              <a:ext uri="{FF2B5EF4-FFF2-40B4-BE49-F238E27FC236}">
                <a16:creationId xmlns:a16="http://schemas.microsoft.com/office/drawing/2014/main" id="{2D09915A-50E3-4C12-862F-A98BC7D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91050"/>
            <a:ext cx="5753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min_error is a minimum-mismatch floor, not the inferred production total-error process.</a:t>
            </a:r>
          </a:p>
        </p:txBody>
      </p:sp>
      <p:sp>
        <p:nvSpPr>
          <p:cNvPr id="20" name="method-source">
            <a:extLst xmlns:a="http://schemas.openxmlformats.org/drawingml/2006/main">
              <a:ext uri="{FF2B5EF4-FFF2-40B4-BE49-F238E27FC236}">
                <a16:creationId xmlns:a16="http://schemas.microsoft.com/office/drawing/2014/main" id="{C01E2176-EF49-4C35-9CA2-EF514C7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2937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Method: demo_data.py; frozen TAC/MHD fixtures under tests/data.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FF5CA9-CD99-4691-8513-BF3CA12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5593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28A71D-89CF-4BB8-BD25-EEA9F7B8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Proxy-greedy splitting creates the K=32 start</a:t>
            </a:r>
          </a:p>
        </p:txBody>
      </p:sp>
      <p:sp>
        <p:nvSpPr>
          <p:cNvPr id="2" name="proxy-label">
            <a:extLst xmlns:a="http://schemas.openxmlformats.org/drawingml/2006/main">
              <a:ext uri="{FF2B5EF4-FFF2-40B4-BE49-F238E27FC236}">
                <a16:creationId xmlns:a16="http://schemas.microsoft.com/office/drawing/2014/main" id="{06FBA241-B376-4D16-8869-382B5789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428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For candidate tile v</a:t>
            </a:r>
          </a:p>
        </p:txBody>
      </p:sp>
      <p:sp>
        <p:nvSpPr>
          <p:cNvPr id="3" name="proxy-h">
            <a:extLst xmlns:a="http://schemas.openxmlformats.org/drawingml/2006/main">
              <a:ext uri="{FF2B5EF4-FFF2-40B4-BE49-F238E27FC236}">
                <a16:creationId xmlns:a16="http://schemas.microsoft.com/office/drawing/2014/main" id="{EBDCB5DA-0DD4-44AD-A863-6B7462B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438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hᵢᵥ = Σc∈v Gᵢc</a:t>
            </a:r>
          </a:p>
        </p:txBody>
      </p:sp>
      <p:sp>
        <p:nvSpPr>
          <p:cNvPr id="4" name="proxy-s">
            <a:extLst xmlns:a="http://schemas.openxmlformats.org/drawingml/2006/main">
              <a:ext uri="{FF2B5EF4-FFF2-40B4-BE49-F238E27FC236}">
                <a16:creationId xmlns:a16="http://schemas.microsoft.com/office/drawing/2014/main" id="{2A8715B9-A524-4ADE-B773-511C2135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05075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sᵥ = (1/aᵥ) Σᵢ Rᵢᵢ⁻¹ hᵢᵥ²</a:t>
            </a:r>
          </a:p>
        </p:txBody>
      </p:sp>
      <p:sp>
        <p:nvSpPr>
          <p:cNvPr id="5" name="sum-square-callout">
            <a:extLst xmlns:a="http://schemas.openxmlformats.org/drawingml/2006/main">
              <a:ext uri="{FF2B5EF4-FFF2-40B4-BE49-F238E27FC236}">
                <a16:creationId xmlns:a16="http://schemas.microsoft.com/office/drawing/2014/main" id="{D86B1E9B-BE04-418E-B797-F1520E02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86125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sum-square">
            <a:extLst xmlns:a="http://schemas.openxmlformats.org/drawingml/2006/main">
              <a:ext uri="{FF2B5EF4-FFF2-40B4-BE49-F238E27FC236}">
                <a16:creationId xmlns:a16="http://schemas.microsoft.com/office/drawing/2014/main" id="{ADBDA8A8-EC71-4431-9B04-97CF5CA9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86150"/>
            <a:ext cx="45339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Cells are summed before squaring.</a:t>
            </a:r>
          </a:p>
        </p:txBody>
      </p:sp>
      <p:sp>
        <p:nvSpPr>
          <p:cNvPr id="7" name="proxy-method">
            <a:extLst xmlns:a="http://schemas.openxmlformats.org/drawingml/2006/main">
              <a:ext uri="{FF2B5EF4-FFF2-40B4-BE49-F238E27FC236}">
                <a16:creationId xmlns:a16="http://schemas.microsoft.com/office/drawing/2014/main" id="{3804CCAF-10D7-4434-9F5C-34F1A1C3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43400"/>
            <a:ext cx="4953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The initializer applies the split with the largest proxy gain until 32 active regions remain.</a:t>
            </a:r>
          </a:p>
        </p:txBody>
      </p:sp>
      <p:sp>
        <p:nvSpPr>
          <p:cNvPr id="8" name="frame0-backing">
            <a:extLst xmlns:a="http://schemas.openxmlformats.org/drawingml/2006/main">
              <a:ext uri="{FF2B5EF4-FFF2-40B4-BE49-F238E27FC236}">
                <a16:creationId xmlns:a16="http://schemas.microsoft.com/office/drawing/2014/main" id="{5A612D22-E0CF-4C99-ACEB-D43B1A3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62075"/>
            <a:ext cx="6000750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initializer-fr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c1bdaa752484b"/>
          <a:stretch xmlns:a="http://schemas.openxmlformats.org/drawingml/2006/main"/>
        </p:blipFill>
        <p:spPr>
          <a:xfrm xmlns:a="http://schemas.openxmlformats.org/drawingml/2006/main">
            <a:off x="6136571" y="1457325"/>
            <a:ext cx="5329058" cy="3895725"/>
          </a:xfrm>
          <a:prstGeom xmlns:a="http://schemas.openxmlformats.org/drawingml/2006/main" prst="rect">
            <a:avLst/>
          </a:prstGeom>
        </p:spPr>
      </p:pic>
      <p:sp>
        <p:nvSpPr>
          <p:cNvPr id="10" name="weight-caption">
            <a:extLst xmlns:a="http://schemas.openxmlformats.org/drawingml/2006/main">
              <a:ext uri="{FF2B5EF4-FFF2-40B4-BE49-F238E27FC236}">
                <a16:creationId xmlns:a16="http://schemas.microsoft.com/office/drawing/2014/main" id="{1CB54B1F-D255-464B-9F48-1274D342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619750"/>
            <a:ext cx="600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Background: log(1 + √Σᵢ Gᵢc²/Rᵢᵢ). It is context, not the complete tile score.</a:t>
            </a:r>
          </a:p>
        </p:txBody>
      </p:sp>
      <p:sp>
        <p:nvSpPr>
          <p:cNvPr id="11" name="method-source">
            <a:extLst xmlns:a="http://schemas.openxmlformats.org/drawingml/2006/main">
              <a:ext uri="{FF2B5EF4-FFF2-40B4-BE49-F238E27FC236}">
                <a16:creationId xmlns:a16="http://schemas.microsoft.com/office/drawing/2014/main" id="{92BD18BF-0072-4E5F-85FC-0DF7981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2937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Method: initializers.py, objectives.py; visual: tac_mhd_sls.gif.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A4CF8F-0738-4A79-8B35-08D7618D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41717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75F8A-B5B7-493C-92AF-8C8EAD41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Fixed-K search changes partition shape</a:t>
            </a:r>
          </a:p>
        </p:txBody>
      </p:sp>
      <p:sp>
        <p:nvSpPr>
          <p:cNvPr id="2" name="move-1">
            <a:extLst xmlns:a="http://schemas.openxmlformats.org/drawingml/2006/main">
              <a:ext uri="{FF2B5EF4-FFF2-40B4-BE49-F238E27FC236}">
                <a16:creationId xmlns:a16="http://schemas.microsoft.com/office/drawing/2014/main" id="{4D06D47B-C224-42C6-B589-BDF342EE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move-2">
            <a:extLst xmlns:a="http://schemas.openxmlformats.org/drawingml/2006/main">
              <a:ext uri="{FF2B5EF4-FFF2-40B4-BE49-F238E27FC236}">
                <a16:creationId xmlns:a16="http://schemas.microsoft.com/office/drawing/2014/main" id="{97CC24E2-E561-40CF-B1FE-4B843D82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8112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move-3">
            <a:extLst xmlns:a="http://schemas.openxmlformats.org/drawingml/2006/main">
              <a:ext uri="{FF2B5EF4-FFF2-40B4-BE49-F238E27FC236}">
                <a16:creationId xmlns:a16="http://schemas.microsoft.com/office/drawing/2014/main" id="{0F0C6DB0-D8F3-469C-B23F-7AEBB881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8112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ove-label-1">
            <a:extLst xmlns:a="http://schemas.openxmlformats.org/drawingml/2006/main">
              <a:ext uri="{FF2B5EF4-FFF2-40B4-BE49-F238E27FC236}">
                <a16:creationId xmlns:a16="http://schemas.microsoft.com/office/drawing/2014/main" id="{E4DAAF6B-ED15-433D-A447-8FC6555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28775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MERGE</a:t>
            </a:r>
          </a:p>
        </p:txBody>
      </p:sp>
      <p:sp>
        <p:nvSpPr>
          <p:cNvPr id="6" name="move-body-1">
            <a:extLst xmlns:a="http://schemas.openxmlformats.org/drawingml/2006/main">
              <a:ext uri="{FF2B5EF4-FFF2-40B4-BE49-F238E27FC236}">
                <a16:creationId xmlns:a16="http://schemas.microsoft.com/office/drawing/2014/main" id="{EF0B15ED-5769-4D5C-86F8-4A63CA01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47875"/>
            <a:ext cx="27527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One active sibling pair</a:t>
            </a:r>
          </a:p>
        </p:txBody>
      </p:sp>
      <p:sp>
        <p:nvSpPr>
          <p:cNvPr id="7" name="move-label-2">
            <a:extLst xmlns:a="http://schemas.openxmlformats.org/drawingml/2006/main">
              <a:ext uri="{FF2B5EF4-FFF2-40B4-BE49-F238E27FC236}">
                <a16:creationId xmlns:a16="http://schemas.microsoft.com/office/drawing/2014/main" id="{C040107F-EE8A-4034-BF9F-062E49D9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28775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SPLIT</a:t>
            </a:r>
          </a:p>
        </p:txBody>
      </p:sp>
      <p:sp>
        <p:nvSpPr>
          <p:cNvPr id="8" name="move-body-2">
            <a:extLst xmlns:a="http://schemas.openxmlformats.org/drawingml/2006/main">
              <a:ext uri="{FF2B5EF4-FFF2-40B4-BE49-F238E27FC236}">
                <a16:creationId xmlns:a16="http://schemas.microsoft.com/office/drawing/2014/main" id="{B668F16D-C6CF-4F08-93F8-528E997C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27527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Another compatible active tile</a:t>
            </a:r>
          </a:p>
        </p:txBody>
      </p:sp>
      <p:sp>
        <p:nvSpPr>
          <p:cNvPr id="9" name="move-label-3">
            <a:extLst xmlns:a="http://schemas.openxmlformats.org/drawingml/2006/main">
              <a:ext uri="{FF2B5EF4-FFF2-40B4-BE49-F238E27FC236}">
                <a16:creationId xmlns:a16="http://schemas.microsoft.com/office/drawing/2014/main" id="{30BF3C9E-FA5D-449A-BEF5-F7A8DFAE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8775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ACCEPT</a:t>
            </a:r>
          </a:p>
        </p:txBody>
      </p:sp>
      <p:sp>
        <p:nvSpPr>
          <p:cNvPr id="10" name="move-body-3">
            <a:extLst xmlns:a="http://schemas.openxmlformats.org/drawingml/2006/main">
              <a:ext uri="{FF2B5EF4-FFF2-40B4-BE49-F238E27FC236}">
                <a16:creationId xmlns:a16="http://schemas.microsoft.com/office/drawing/2014/main" id="{3E0220DB-C383-414A-9797-0AD64C33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7527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Improve, or accept loss L with exp(−L/T)</a:t>
            </a:r>
          </a:p>
        </p:txBody>
      </p:sp>
      <p:sp>
        <p:nvSpPr>
          <p:cNvPr id="11" name="dfs-label">
            <a:extLst xmlns:a="http://schemas.openxmlformats.org/drawingml/2006/main">
              <a:ext uri="{FF2B5EF4-FFF2-40B4-BE49-F238E27FC236}">
                <a16:creationId xmlns:a16="http://schemas.microsoft.com/office/drawing/2014/main" id="{01149414-9DDE-4931-9416-FE0A6D36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71850"/>
            <a:ext cx="381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Gaussian benchmark DFS</a:t>
            </a:r>
          </a:p>
        </p:txBody>
      </p:sp>
      <p:sp>
        <p:nvSpPr>
          <p:cNvPr id="12" name="dfs-formula">
            <a:extLst xmlns:a="http://schemas.openxmlformats.org/drawingml/2006/main">
              <a:ext uri="{FF2B5EF4-FFF2-40B4-BE49-F238E27FC236}">
                <a16:creationId xmlns:a16="http://schemas.microsoft.com/office/drawing/2014/main" id="{C573EFF0-17DF-415F-A4A8-04284AE2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90950"/>
            <a:ext cx="7772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D(P) = K − tr[(Bₚ⁻¹ + HₚᵀR⁻¹Hₚ)⁻¹ Bₚ⁻¹]</a:t>
            </a:r>
          </a:p>
        </p:txBody>
      </p:sp>
      <p:sp>
        <p:nvSpPr>
          <p:cNvPr id="13" name="pilot-stat">
            <a:extLst xmlns:a="http://schemas.openxmlformats.org/drawingml/2006/main">
              <a:ext uri="{FF2B5EF4-FFF2-40B4-BE49-F238E27FC236}">
                <a16:creationId xmlns:a16="http://schemas.microsoft.com/office/drawing/2014/main" id="{82F5365C-F18A-4D4F-A97C-0382B39A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85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100</a:t>
            </a:r>
          </a:p>
        </p:txBody>
      </p:sp>
      <p:sp>
        <p:nvSpPr>
          <p:cNvPr id="14" name="pilot-label">
            <a:extLst xmlns:a="http://schemas.openxmlformats.org/drawingml/2006/main">
              <a:ext uri="{FF2B5EF4-FFF2-40B4-BE49-F238E27FC236}">
                <a16:creationId xmlns:a16="http://schemas.microsoft.com/office/drawing/2014/main" id="{57300EB0-7C6C-40BD-93B9-85F0BBE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14725"/>
            <a:ext cx="1809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pilot proposals</a:t>
            </a:r>
          </a:p>
        </p:txBody>
      </p:sp>
      <p:sp>
        <p:nvSpPr>
          <p:cNvPr id="15" name="eval-stat">
            <a:extLst xmlns:a="http://schemas.openxmlformats.org/drawingml/2006/main">
              <a:ext uri="{FF2B5EF4-FFF2-40B4-BE49-F238E27FC236}">
                <a16:creationId xmlns:a16="http://schemas.microsoft.com/office/drawing/2014/main" id="{98EC1FD1-744C-4FB0-8AB3-86CB238B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48125"/>
            <a:ext cx="85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300</a:t>
            </a:r>
          </a:p>
        </p:txBody>
      </p:sp>
      <p:sp>
        <p:nvSpPr>
          <p:cNvPr id="16" name="eval-label">
            <a:extLst xmlns:a="http://schemas.openxmlformats.org/drawingml/2006/main">
              <a:ext uri="{FF2B5EF4-FFF2-40B4-BE49-F238E27FC236}">
                <a16:creationId xmlns:a16="http://schemas.microsoft.com/office/drawing/2014/main" id="{4F54B157-DAFA-419F-8395-72BF6B33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33850"/>
            <a:ext cx="1809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search evaluations</a:t>
            </a:r>
          </a:p>
        </p:txBody>
      </p:sp>
      <p:sp>
        <p:nvSpPr>
          <p:cNvPr id="17" name="accept-stat">
            <a:extLst xmlns:a="http://schemas.openxmlformats.org/drawingml/2006/main">
              <a:ext uri="{FF2B5EF4-FFF2-40B4-BE49-F238E27FC236}">
                <a16:creationId xmlns:a16="http://schemas.microsoft.com/office/drawing/2014/main" id="{43F985B2-169A-489B-BB97-ACA178F7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67250"/>
            <a:ext cx="85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154</a:t>
            </a:r>
          </a:p>
        </p:txBody>
      </p:sp>
      <p:sp>
        <p:nvSpPr>
          <p:cNvPr id="18" name="accept-label">
            <a:extLst xmlns:a="http://schemas.openxmlformats.org/drawingml/2006/main">
              <a:ext uri="{FF2B5EF4-FFF2-40B4-BE49-F238E27FC236}">
                <a16:creationId xmlns:a16="http://schemas.microsoft.com/office/drawing/2014/main" id="{3C1E5F0A-BCA7-49F2-BE5D-B856B7DF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52975"/>
            <a:ext cx="1809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accepted moves</a:t>
            </a:r>
          </a:p>
        </p:txBody>
      </p:sp>
      <p:sp>
        <p:nvSpPr>
          <p:cNvPr id="19" name="not-posterior">
            <a:extLst xmlns:a="http://schemas.openxmlformats.org/drawingml/2006/main">
              <a:ext uri="{FF2B5EF4-FFF2-40B4-BE49-F238E27FC236}">
                <a16:creationId xmlns:a16="http://schemas.microsoft.com/office/drawing/2014/main" id="{54170676-D458-439E-8867-7DBEAF36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05375"/>
            <a:ext cx="7772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17613B"/>
            </a:solidFill>
            <a:prstDash val="solid"/>
          </a:ln>
        </p:spPr>
      </p:sp>
      <p:sp>
        <p:nvSpPr>
          <p:cNvPr id="20" name="not-posterior-text">
            <a:extLst xmlns:a="http://schemas.openxmlformats.org/drawingml/2006/main">
              <a:ext uri="{FF2B5EF4-FFF2-40B4-BE49-F238E27FC236}">
                <a16:creationId xmlns:a16="http://schemas.microsoft.com/office/drawing/2014/main" id="{F5FCB401-3774-4A1A-A82C-AB6B2EB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731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13B"/>
                </a:solidFill>
                <a:latin typeface="Helvetica Neue"/>
                <a:ea typeface="Helvetica Neue"/>
                <a:cs typeface="Helvetica Neue"/>
              </a:defRPr>
            </a:pPr>
            <a:r>
              <a:t>Stochastic optimisation, not posterior sampling.</a:t>
            </a:r>
          </a:p>
        </p:txBody>
      </p:sp>
      <p:sp>
        <p:nvSpPr>
          <p:cNvPr id="21" name="method-source">
            <a:extLst xmlns:a="http://schemas.openxmlformats.org/drawingml/2006/main">
              <a:ext uri="{FF2B5EF4-FFF2-40B4-BE49-F238E27FC236}">
                <a16:creationId xmlns:a16="http://schemas.microsoft.com/office/drawing/2014/main" id="{E802A12C-5A21-4E69-855D-B6635ABF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2937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Method: proposals.py, search.py, tac_mhd_sls_manifest.json; DFS inspired by Bocquet, Wu &amp; Chevallier.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D9651C-B88B-4076-8BAB-2B2D1FDA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00049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32EC82-49E8-40F7-A9DB-C5603BA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Local search improves the Gaussian DFS benchmark</a:t>
            </a:r>
          </a:p>
        </p:txBody>
      </p:sp>
      <p:pic>
        <p:nvPicPr>
          <p:cNvPr id="13" name="result-summa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a29afe40b487c"/>
          <a:stretch xmlns:a="http://schemas.openxmlformats.org/drawingml/2006/main"/>
        </p:blipFill>
        <p:spPr>
          <a:xfrm xmlns:a="http://schemas.openxmlformats.org/drawingml/2006/main">
            <a:off x="1441739" y="1000125"/>
            <a:ext cx="9308523" cy="4095750"/>
          </a:xfrm>
          <a:prstGeom xmlns:a="http://schemas.openxmlformats.org/drawingml/2006/main" prst="rect">
            <a:avLst/>
          </a:prstGeom>
        </p:spPr>
      </p:pic>
      <p:cxnSp>
        <p:nvCxnSpPr>
          <p:cNvPr id="14" name="result-rule"/>
          <p:cNvCxnSpPr/>
          <p:nvPr/>
        </p:nvCxnSpPr>
        <p:spPr>
          <a:xfrm xmlns:a="http://schemas.openxmlformats.org/drawingml/2006/main">
            <a:off x="390525" y="5267325"/>
            <a:ext cx="11410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combined-result">
            <a:extLst xmlns:a="http://schemas.openxmlformats.org/drawingml/2006/main">
              <a:ext uri="{FF2B5EF4-FFF2-40B4-BE49-F238E27FC236}">
                <a16:creationId xmlns:a16="http://schemas.microsoft.com/office/drawing/2014/main" id="{8B38D4FE-8544-40DA-8E7B-85063E4D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400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6.6213868511 → 6.6969787847</a:t>
            </a:r>
          </a:p>
        </p:txBody>
      </p:sp>
      <p:sp>
        <p:nvSpPr>
          <p:cNvPr id="5" name="combined-label">
            <a:extLst xmlns:a="http://schemas.openxmlformats.org/drawingml/2006/main">
              <a:ext uri="{FF2B5EF4-FFF2-40B4-BE49-F238E27FC236}">
                <a16:creationId xmlns:a16="http://schemas.microsoft.com/office/drawing/2014/main" id="{2744C8A6-1B0A-4615-903B-D64EB0FF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combined TAC/MHD</a:t>
            </a:r>
          </a:p>
        </p:txBody>
      </p:sp>
      <p:sp>
        <p:nvSpPr>
          <p:cNvPr id="6" name="mhd-result">
            <a:extLst xmlns:a="http://schemas.openxmlformats.org/drawingml/2006/main">
              <a:ext uri="{FF2B5EF4-FFF2-40B4-BE49-F238E27FC236}">
                <a16:creationId xmlns:a16="http://schemas.microsoft.com/office/drawing/2014/main" id="{1F8306EC-C04B-47D7-8200-32843B32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76875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2.2306430146 → 2.2599799610</a:t>
            </a:r>
          </a:p>
        </p:txBody>
      </p:sp>
      <p:sp>
        <p:nvSpPr>
          <p:cNvPr id="7" name="mhd-label">
            <a:extLst xmlns:a="http://schemas.openxmlformats.org/drawingml/2006/main">
              <a:ext uri="{FF2B5EF4-FFF2-40B4-BE49-F238E27FC236}">
                <a16:creationId xmlns:a16="http://schemas.microsoft.com/office/drawing/2014/main" id="{8E59493B-BD8A-4A24-ABE6-364210D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674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MHD-only diagnostic</a:t>
            </a:r>
          </a:p>
        </p:txBody>
      </p:sp>
      <p:sp>
        <p:nvSpPr>
          <p:cNvPr id="8" name="tac-result">
            <a:extLst xmlns:a="http://schemas.openxmlformats.org/drawingml/2006/main">
              <a:ext uri="{FF2B5EF4-FFF2-40B4-BE49-F238E27FC236}">
                <a16:creationId xmlns:a16="http://schemas.microsoft.com/office/drawing/2014/main" id="{F33D4ABA-F4B4-412F-B25E-3716C9E9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76875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4.7197859243 → 4.7464773740</a:t>
            </a:r>
          </a:p>
        </p:txBody>
      </p:sp>
      <p:sp>
        <p:nvSpPr>
          <p:cNvPr id="9" name="tac-label">
            <a:extLst xmlns:a="http://schemas.openxmlformats.org/drawingml/2006/main">
              <a:ext uri="{FF2B5EF4-FFF2-40B4-BE49-F238E27FC236}">
                <a16:creationId xmlns:a16="http://schemas.microsoft.com/office/drawing/2014/main" id="{C7839691-8856-4A4A-874D-188E3B1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674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TAC-only diagnostic</a:t>
            </a:r>
          </a:p>
        </p:txBody>
      </p:sp>
      <p:sp>
        <p:nvSpPr>
          <p:cNvPr id="10" name="method-source">
            <a:extLst xmlns:a="http://schemas.openxmlformats.org/drawingml/2006/main">
              <a:ext uri="{FF2B5EF4-FFF2-40B4-BE49-F238E27FC236}">
                <a16:creationId xmlns:a16="http://schemas.microsoft.com/office/drawing/2014/main" id="{0AA688FC-DA89-418D-8CE0-5B42491F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2937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tac_mhd_sls_summary.png and tac_mhd_sls_manifest.json. Site-only DFS values are separate, non-additive recomputations.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DB2824-95E8-479B-B250-3D197098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4638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CE55D4-37E1-44C6-98C8-C498423D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1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Full-week data scale variable-K search to 333 observations</a:t>
            </a:r>
          </a:p>
        </p:txBody>
      </p:sp>
      <p:pic>
        <p:nvPicPr>
          <p:cNvPr id="19" name="variable-k-summa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806d978074548"/>
          <a:stretch xmlns:a="http://schemas.openxmlformats.org/drawingml/2006/main"/>
        </p:blipFill>
        <p:spPr>
          <a:xfrm xmlns:a="http://schemas.openxmlformats.org/drawingml/2006/main">
            <a:off x="390525" y="1091565"/>
            <a:ext cx="6858000" cy="3017520"/>
          </a:xfrm>
          <a:prstGeom xmlns:a="http://schemas.openxmlformats.org/drawingml/2006/main" prst="rect">
            <a:avLst/>
          </a:prstGeom>
        </p:spPr>
      </p:pic>
      <p:sp>
        <p:nvSpPr>
          <p:cNvPr id="3" name="variable-k-label">
            <a:extLst xmlns:a="http://schemas.openxmlformats.org/drawingml/2006/main">
              <a:ext uri="{FF2B5EF4-FFF2-40B4-BE49-F238E27FC236}">
                <a16:creationId xmlns:a16="http://schemas.microsoft.com/office/drawing/2014/main" id="{BD5EA01B-AEBA-44D8-9EF8-580665A4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001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FULL-WEEK SCALE-UP</a:t>
            </a:r>
          </a:p>
        </p:txBody>
      </p:sp>
      <p:sp>
        <p:nvSpPr>
          <p:cNvPr id="4" name="variable-k-change">
            <a:extLst xmlns:a="http://schemas.openxmlformats.org/drawingml/2006/main">
              <a:ext uri="{FF2B5EF4-FFF2-40B4-BE49-F238E27FC236}">
                <a16:creationId xmlns:a16="http://schemas.microsoft.com/office/drawing/2014/main" id="{4292E2B0-BB76-4CF0-BE8C-51DECFA0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9725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333 hourly rows</a:t>
            </a:r>
          </a:p>
        </p:txBody>
      </p:sp>
      <p:sp>
        <p:nvSpPr>
          <p:cNvPr id="5" name="variable-k-dfs">
            <a:extLst xmlns:a="http://schemas.openxmlformats.org/drawingml/2006/main">
              <a:ext uri="{FF2B5EF4-FFF2-40B4-BE49-F238E27FC236}">
                <a16:creationId xmlns:a16="http://schemas.microsoft.com/office/drawing/2014/main" id="{D67857AC-E78E-4748-BEDC-8B608509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165 MHD + 168 TAC</a:t>
            </a:r>
          </a:p>
        </p:txBody>
      </p:sp>
      <p:sp>
        <p:nvSpPr>
          <p:cNvPr id="6" name="variable-k-config">
            <a:extLst xmlns:a="http://schemas.openxmlformats.org/drawingml/2006/main">
              <a:ext uri="{FF2B5EF4-FFF2-40B4-BE49-F238E27FC236}">
                <a16:creationId xmlns:a16="http://schemas.microsoft.com/office/drawing/2014/main" id="{13F05287-7E85-4612-96B3-57635AAC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14625"/>
            <a:ext cx="3810000" cy="1304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G: 333×293×391 → 333×37×49
No missing-hour imputation
600 evaluations · 366 accepted
≈1 s excluding rendering</a:t>
            </a:r>
          </a:p>
        </p:txBody>
      </p:sp>
      <p:sp>
        <p:nvSpPr>
          <p:cNvPr id="7" name="utility-formula-box">
            <a:extLst xmlns:a="http://schemas.openxmlformats.org/drawingml/2006/main">
              <a:ext uri="{FF2B5EF4-FFF2-40B4-BE49-F238E27FC236}">
                <a16:creationId xmlns:a16="http://schemas.microsoft.com/office/drawing/2014/main" id="{44681E7F-27CA-476D-A8E8-1EBD2B61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4514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utility-formula">
            <a:extLst xmlns:a="http://schemas.openxmlformats.org/drawingml/2006/main">
              <a:ext uri="{FF2B5EF4-FFF2-40B4-BE49-F238E27FC236}">
                <a16:creationId xmlns:a16="http://schemas.microsoft.com/office/drawing/2014/main" id="{2A7E31AB-8FA9-4AB2-80A4-68DF9EAD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33900"/>
            <a:ext cx="413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U(P) = D(P) − λ max{0, K(P)−32}</a:t>
            </a:r>
          </a:p>
        </p:txBody>
      </p:sp>
      <p:sp>
        <p:nvSpPr>
          <p:cNvPr id="9" name="variable-k-interpretation">
            <a:extLst xmlns:a="http://schemas.openxmlformats.org/drawingml/2006/main">
              <a:ext uri="{FF2B5EF4-FFF2-40B4-BE49-F238E27FC236}">
                <a16:creationId xmlns:a16="http://schemas.microsoft.com/office/drawing/2014/main" id="{B39AC4DE-EC68-48FB-8903-973DD551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053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Best utility: K=31, DFS=5.8968695574, penalty=0</a:t>
            </a:r>
          </a:p>
        </p:txBody>
      </p:sp>
      <p:sp>
        <p:nvSpPr>
          <p:cNvPr id="10" name="variable-k-caveat">
            <a:extLst xmlns:a="http://schemas.openxmlformats.org/drawingml/2006/main">
              <a:ext uri="{FF2B5EF4-FFF2-40B4-BE49-F238E27FC236}">
                <a16:creationId xmlns:a16="http://schemas.microsoft.com/office/drawing/2014/main" id="{928CAA5D-8413-4E31-B209-55E13E31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76775"/>
            <a:ext cx="6191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Start: K=24, DFS=5.8787660714. Final: K=21, DFS=5.8772821075. Same-seed λ response was non-monotone, so λ does not estimate K. GIF/trace retain persistent best DFS separately from best utility.</a:t>
            </a:r>
          </a:p>
        </p:txBody>
      </p:sp>
      <p:cxnSp>
        <p:nvCxnSpPr>
          <p:cNvPr id="28" name="week-error-rule"/>
          <p:cNvCxnSpPr/>
          <p:nvPr/>
        </p:nvCxnSpPr>
        <p:spPr>
          <a:xfrm xmlns:a="http://schemas.openxmlformats.org/drawingml/2006/main">
            <a:off x="390525" y="5248275"/>
            <a:ext cx="11410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week-error-label">
            <a:extLst xmlns:a="http://schemas.openxmlformats.org/drawingml/2006/main">
              <a:ext uri="{FF2B5EF4-FFF2-40B4-BE49-F238E27FC236}">
                <a16:creationId xmlns:a16="http://schemas.microsoft.com/office/drawing/2014/main" id="{BF38C1B3-5334-41FC-8767-2447697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SELECTED ERROR BENCHMARK</a:t>
            </a:r>
          </a:p>
        </p:txBody>
      </p:sp>
      <p:sp>
        <p:nvSpPr>
          <p:cNvPr id="13" name="week-error-mhd">
            <a:extLst xmlns:a="http://schemas.openxmlformats.org/drawingml/2006/main">
              <a:ext uri="{FF2B5EF4-FFF2-40B4-BE49-F238E27FC236}">
                <a16:creationId xmlns:a16="http://schemas.microsoft.com/office/drawing/2014/main" id="{ACEFCC7C-12D6-493C-99FF-384C6398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3333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MHD: repeatability combined with within-hour variability. Singleton hours retain zero variability because repeatability remains positive.</a:t>
            </a:r>
          </a:p>
        </p:txBody>
      </p:sp>
      <p:sp>
        <p:nvSpPr>
          <p:cNvPr id="14" name="week-error-tac">
            <a:extLst xmlns:a="http://schemas.openxmlformats.org/drawingml/2006/main">
              <a:ext uri="{FF2B5EF4-FFF2-40B4-BE49-F238E27FC236}">
                <a16:creationId xmlns:a16="http://schemas.microsoft.com/office/drawing/2014/main" id="{6A604397-AC2D-4FD0-82BE-39DD9575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57850"/>
            <a:ext cx="261937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TAC: pooled variability; zero pooled variability is replaced by the site median.</a:t>
            </a:r>
          </a:p>
        </p:txBody>
      </p:sp>
      <p:sp>
        <p:nvSpPr>
          <p:cNvPr id="15" name="week-error-floor">
            <a:extLst xmlns:a="http://schemas.openxmlformats.org/drawingml/2006/main">
              <a:ext uri="{FF2B5EF4-FFF2-40B4-BE49-F238E27FC236}">
                <a16:creationId xmlns:a16="http://schemas.microsoft.com/office/drawing/2014/main" id="{8A8124AE-ABD4-4384-A4A1-F295ED72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57850"/>
            <a:ext cx="490537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Floor selected for all rows: MHD 165/165, 43.210 ppb vs 1.485–26.063; TAC 168/168, 42.863 ppb vs 0.467–16.360. Hourly differences therefore do not affect R.</a:t>
            </a:r>
          </a:p>
        </p:txBody>
      </p:sp>
      <p:sp>
        <p:nvSpPr>
          <p:cNvPr id="16" name="method-source">
            <a:extLst xmlns:a="http://schemas.openxmlformats.org/drawingml/2006/main">
              <a:ext uri="{FF2B5EF4-FFF2-40B4-BE49-F238E27FC236}">
                <a16:creationId xmlns:a16="http://schemas.microsoft.com/office/drawing/2014/main" id="{DFA413FA-05E1-4953-8174-D7346BE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2937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full-week variable-K summary + manifest; fixed hourly covariance remains non-production.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79F3F7-5823-4709-A8E0-28956D3F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8658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9EF34-6438-43D7-B0B1-03C551A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The covariance is deliberately provisional</a:t>
            </a:r>
          </a:p>
        </p:txBody>
      </p:sp>
      <p:sp>
        <p:nvSpPr>
          <p:cNvPr id="2" name="cov-current">
            <a:extLst xmlns:a="http://schemas.openxmlformats.org/drawingml/2006/main">
              <a:ext uri="{FF2B5EF4-FFF2-40B4-BE49-F238E27FC236}">
                <a16:creationId xmlns:a16="http://schemas.microsoft.com/office/drawing/2014/main" id="{B9D2F1E8-670A-4E11-A2EF-CBA2158E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5048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cov-target">
            <a:extLst xmlns:a="http://schemas.openxmlformats.org/drawingml/2006/main">
              <a:ext uri="{FF2B5EF4-FFF2-40B4-BE49-F238E27FC236}">
                <a16:creationId xmlns:a16="http://schemas.microsoft.com/office/drawing/2014/main" id="{5DB04841-5BAE-403F-92D1-16A3D8DF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66850"/>
            <a:ext cx="54387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cov-current-label">
            <a:extLst xmlns:a="http://schemas.openxmlformats.org/drawingml/2006/main">
              <a:ext uri="{FF2B5EF4-FFF2-40B4-BE49-F238E27FC236}">
                <a16:creationId xmlns:a16="http://schemas.microsoft.com/office/drawing/2014/main" id="{D63BD085-0ECE-42FB-87E7-0246FE4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BENCHMARK</a:t>
            </a:r>
          </a:p>
        </p:txBody>
      </p:sp>
      <p:sp>
        <p:nvSpPr>
          <p:cNvPr id="5" name="cov-current-formula">
            <a:extLst xmlns:a="http://schemas.openxmlformats.org/drawingml/2006/main">
              <a:ext uri="{FF2B5EF4-FFF2-40B4-BE49-F238E27FC236}">
                <a16:creationId xmlns:a16="http://schemas.microsoft.com/office/drawing/2014/main" id="{66722E4E-374C-4ED5-8466-EDF90C0F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24100"/>
            <a:ext cx="371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Bₚ = τ² Iₖ</a:t>
            </a:r>
          </a:p>
        </p:txBody>
      </p:sp>
      <p:sp>
        <p:nvSpPr>
          <p:cNvPr id="6" name="cov-current-body">
            <a:extLst xmlns:a="http://schemas.openxmlformats.org/drawingml/2006/main">
              <a:ext uri="{FF2B5EF4-FFF2-40B4-BE49-F238E27FC236}">
                <a16:creationId xmlns:a16="http://schemas.microsoft.com/office/drawing/2014/main" id="{834CA7CF-B5C5-42DC-9CD8-67E1E116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isotropic regional covariance is used for every partition.</a:t>
            </a:r>
          </a:p>
        </p:txBody>
      </p:sp>
      <p:sp>
        <p:nvSpPr>
          <p:cNvPr id="7" name="cov-target-label">
            <a:extLst xmlns:a="http://schemas.openxmlformats.org/drawingml/2006/main">
              <a:ext uri="{FF2B5EF4-FFF2-40B4-BE49-F238E27FC236}">
                <a16:creationId xmlns:a16="http://schemas.microsoft.com/office/drawing/2014/main" id="{D69AB0F8-86B9-4389-B757-3922BB4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371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SCALE-CONSISTENT TARGET</a:t>
            </a:r>
          </a:p>
        </p:txBody>
      </p:sp>
      <p:sp>
        <p:nvSpPr>
          <p:cNvPr id="8" name="cov-target-formula">
            <a:extLst xmlns:a="http://schemas.openxmlformats.org/drawingml/2006/main">
              <a:ext uri="{FF2B5EF4-FFF2-40B4-BE49-F238E27FC236}">
                <a16:creationId xmlns:a16="http://schemas.microsoft.com/office/drawing/2014/main" id="{8F6AA392-E240-4EF0-9D95-5949817D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428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Bₚ = P B Pᵀ</a:t>
            </a:r>
          </a:p>
        </p:txBody>
      </p:sp>
      <p:sp>
        <p:nvSpPr>
          <p:cNvPr id="9" name="cov-target-body">
            <a:extLst xmlns:a="http://schemas.openxmlformats.org/drawingml/2006/main">
              <a:ext uri="{FF2B5EF4-FFF2-40B4-BE49-F238E27FC236}">
                <a16:creationId xmlns:a16="http://schemas.microsoft.com/office/drawing/2014/main" id="{3874F028-E99C-466C-92B7-4A5B1777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572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Start from fine-grid covariance B and project it for each partition.</a:t>
            </a:r>
          </a:p>
        </p:txBody>
      </p:sp>
      <p:sp>
        <p:nvSpPr>
          <p:cNvPr id="10" name="cov-conclusion">
            <a:extLst xmlns:a="http://schemas.openxmlformats.org/drawingml/2006/main">
              <a:ext uri="{FF2B5EF4-FFF2-40B4-BE49-F238E27FC236}">
                <a16:creationId xmlns:a16="http://schemas.microsoft.com/office/drawing/2014/main" id="{075D2238-48B8-49A9-B249-DC4D1964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Reusing one numerical Bₚ breaks the Bocquet transformation assumption. The code already accepts a partition-dependent covariance builder, so the search machinery need not change.</a:t>
            </a:r>
          </a:p>
        </p:txBody>
      </p:sp>
      <p:sp>
        <p:nvSpPr>
          <p:cNvPr id="11" name="method-source">
            <a:extLst xmlns:a="http://schemas.openxmlformats.org/drawingml/2006/main">
              <a:ext uri="{FF2B5EF4-FFF2-40B4-BE49-F238E27FC236}">
                <a16:creationId xmlns:a16="http://schemas.microsoft.com/office/drawing/2014/main" id="{09666D65-1F11-4C1A-86C2-97D9611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2937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Method: objectives.py; covariance design inspired by Bocquet, Wu &amp; Chevallier.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8A7F7E-E550-44B8-8C89-2ED4C8AD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51059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1CE629-0D25-48DC-AE22-FCF6688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The POC now covers fixed and variable K</a:t>
            </a:r>
          </a:p>
        </p:txBody>
      </p:sp>
      <p:sp>
        <p:nvSpPr>
          <p:cNvPr id="2" name="status-now-label">
            <a:extLst xmlns:a="http://schemas.openxmlformats.org/drawingml/2006/main">
              <a:ext uri="{FF2B5EF4-FFF2-40B4-BE49-F238E27FC236}">
                <a16:creationId xmlns:a16="http://schemas.microsoft.com/office/drawing/2014/main" id="{E668A8F2-DC50-4DFA-99E6-E0D7CCD5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13B"/>
                </a:solidFill>
                <a:latin typeface="Helvetica Neue"/>
                <a:ea typeface="Helvetica Neue"/>
                <a:cs typeface="Helvetica Neue"/>
              </a:defRPr>
            </a:pPr>
            <a:r>
              <a:t>WORKING NOW</a:t>
            </a:r>
          </a:p>
        </p:txBody>
      </p:sp>
      <p:sp>
        <p:nvSpPr>
          <p:cNvPr id="3" name="status-now-body">
            <a:extLst xmlns:a="http://schemas.openxmlformats.org/drawingml/2006/main">
              <a:ext uri="{FF2B5EF4-FFF2-40B4-BE49-F238E27FC236}">
                <a16:creationId xmlns:a16="http://schemas.microsoft.com/office/drawing/2014/main" id="{DECEC120-2765-4AC1-B1CD-7DD60E30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447675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Dyadic tree + multiscale design
Proxy-greedy and random starts
Fixed-K paired search (47 rows)
Variable-K independent split/merge
Full-week 333-row adapter</a:t>
            </a:r>
          </a:p>
        </p:txBody>
      </p:sp>
      <p:cxnSp>
        <p:nvCxnSpPr>
          <p:cNvPr id="23" name="status-divider"/>
          <p:cNvCxnSpPr/>
          <p:nvPr/>
        </p:nvCxnSpPr>
        <p:spPr>
          <a:xfrm xmlns:a="http://schemas.openxmlformats.org/drawingml/2006/main">
            <a:off x="5334000" y="1381125"/>
            <a:ext cx="95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status-next-label">
            <a:extLst xmlns:a="http://schemas.openxmlformats.org/drawingml/2006/main">
              <a:ext uri="{FF2B5EF4-FFF2-40B4-BE49-F238E27FC236}">
                <a16:creationId xmlns:a16="http://schemas.microsoft.com/office/drawing/2014/main" id="{415F0954-958C-43CE-ACDD-8180897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3716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NEXT EXPERIMENTS</a:t>
            </a:r>
          </a:p>
        </p:txBody>
      </p:sp>
      <p:sp>
        <p:nvSpPr>
          <p:cNvPr id="6" name="next-1-num">
            <a:extLst xmlns:a="http://schemas.openxmlformats.org/drawingml/2006/main">
              <a:ext uri="{FF2B5EF4-FFF2-40B4-BE49-F238E27FC236}">
                <a16:creationId xmlns:a16="http://schemas.microsoft.com/office/drawing/2014/main" id="{EA4149EA-5709-491C-979B-B5791FEE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943100"/>
            <a:ext cx="428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7" name="next-1-title">
            <a:extLst xmlns:a="http://schemas.openxmlformats.org/drawingml/2006/main">
              <a:ext uri="{FF2B5EF4-FFF2-40B4-BE49-F238E27FC236}">
                <a16:creationId xmlns:a16="http://schemas.microsoft.com/office/drawing/2014/main" id="{99D5CC4F-4C28-4E0C-B062-7E286C57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431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Land / sea</a:t>
            </a:r>
          </a:p>
        </p:txBody>
      </p:sp>
      <p:sp>
        <p:nvSpPr>
          <p:cNvPr id="8" name="next-1-body">
            <a:extLst xmlns:a="http://schemas.openxmlformats.org/drawingml/2006/main">
              <a:ext uri="{FF2B5EF4-FFF2-40B4-BE49-F238E27FC236}">
                <a16:creationId xmlns:a16="http://schemas.microsoft.com/office/drawing/2014/main" id="{3957073A-DF2E-4C04-B7AB-3BDCC477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812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Diagnose boundary crossing or impose an explicit constraint</a:t>
            </a:r>
          </a:p>
        </p:txBody>
      </p:sp>
      <p:sp>
        <p:nvSpPr>
          <p:cNvPr id="9" name="next-2-num">
            <a:extLst xmlns:a="http://schemas.openxmlformats.org/drawingml/2006/main">
              <a:ext uri="{FF2B5EF4-FFF2-40B4-BE49-F238E27FC236}">
                <a16:creationId xmlns:a16="http://schemas.microsoft.com/office/drawing/2014/main" id="{387A64FF-0495-4111-958B-CAEDD182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95575"/>
            <a:ext cx="428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0" name="next-2-title">
            <a:extLst xmlns:a="http://schemas.openxmlformats.org/drawingml/2006/main">
              <a:ext uri="{FF2B5EF4-FFF2-40B4-BE49-F238E27FC236}">
                <a16:creationId xmlns:a16="http://schemas.microsoft.com/office/drawing/2014/main" id="{86DF2F5C-A721-4441-8718-5DE7D36C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955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Projected covariance</a:t>
            </a:r>
          </a:p>
        </p:txBody>
      </p:sp>
      <p:sp>
        <p:nvSpPr>
          <p:cNvPr id="11" name="next-2-body">
            <a:extLst xmlns:a="http://schemas.openxmlformats.org/drawingml/2006/main">
              <a:ext uri="{FF2B5EF4-FFF2-40B4-BE49-F238E27FC236}">
                <a16:creationId xmlns:a16="http://schemas.microsoft.com/office/drawing/2014/main" id="{521B16BA-E201-4ED4-8A32-ABADE9A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33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 Bₚ=PBPᵀ and compare conclusions</a:t>
            </a:r>
          </a:p>
        </p:txBody>
      </p:sp>
      <p:sp>
        <p:nvSpPr>
          <p:cNvPr id="12" name="next-3-num">
            <a:extLst xmlns:a="http://schemas.openxmlformats.org/drawingml/2006/main">
              <a:ext uri="{FF2B5EF4-FFF2-40B4-BE49-F238E27FC236}">
                <a16:creationId xmlns:a16="http://schemas.microsoft.com/office/drawing/2014/main" id="{4F2F4B5A-1871-4F5F-9A9A-3C8E8697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448050"/>
            <a:ext cx="428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3" name="next-3-title">
            <a:extLst xmlns:a="http://schemas.openxmlformats.org/drawingml/2006/main">
              <a:ext uri="{FF2B5EF4-FFF2-40B4-BE49-F238E27FC236}">
                <a16:creationId xmlns:a16="http://schemas.microsoft.com/office/drawing/2014/main" id="{C5173741-65E6-4088-A621-D3E6F5D2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480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Search robustness</a:t>
            </a:r>
          </a:p>
        </p:txBody>
      </p:sp>
      <p:sp>
        <p:nvSpPr>
          <p:cNvPr id="14" name="next-3-body">
            <a:extLst xmlns:a="http://schemas.openxmlformats.org/drawingml/2006/main">
              <a:ext uri="{FF2B5EF4-FFF2-40B4-BE49-F238E27FC236}">
                <a16:creationId xmlns:a16="http://schemas.microsoft.com/office/drawing/2014/main" id="{31CB4C97-1FD1-4244-BCFA-3DE91993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86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Multiple seeds, longer runs, decoupled schedule calibration</a:t>
            </a:r>
          </a:p>
        </p:txBody>
      </p:sp>
      <p:sp>
        <p:nvSpPr>
          <p:cNvPr id="15" name="next-4-num">
            <a:extLst xmlns:a="http://schemas.openxmlformats.org/drawingml/2006/main">
              <a:ext uri="{FF2B5EF4-FFF2-40B4-BE49-F238E27FC236}">
                <a16:creationId xmlns:a16="http://schemas.microsoft.com/office/drawing/2014/main" id="{DA9A9239-60C3-43DC-8C97-A5E14A84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00525"/>
            <a:ext cx="428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6" name="next-4-title">
            <a:extLst xmlns:a="http://schemas.openxmlformats.org/drawingml/2006/main">
              <a:ext uri="{FF2B5EF4-FFF2-40B4-BE49-F238E27FC236}">
                <a16:creationId xmlns:a16="http://schemas.microsoft.com/office/drawing/2014/main" id="{D8C74203-CAB5-4415-9E0D-F10FEFCA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0052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Posterior integration</a:t>
            </a:r>
          </a:p>
        </p:txBody>
      </p:sp>
      <p:sp>
        <p:nvSpPr>
          <p:cNvPr id="17" name="next-4-body">
            <a:extLst xmlns:a="http://schemas.openxmlformats.org/drawingml/2006/main">
              <a:ext uri="{FF2B5EF4-FFF2-40B4-BE49-F238E27FC236}">
                <a16:creationId xmlns:a16="http://schemas.microsoft.com/office/drawing/2014/main" id="{D6FCFF3A-D8CE-408E-8E78-0799E896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386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Combine partition updates with continuous inference</a:t>
            </a:r>
          </a:p>
        </p:txBody>
      </p:sp>
      <p:sp>
        <p:nvSpPr>
          <p:cNvPr id="18" name="method-source">
            <a:extLst xmlns:a="http://schemas.openxmlformats.org/drawingml/2006/main">
              <a:ext uri="{FF2B5EF4-FFF2-40B4-BE49-F238E27FC236}">
                <a16:creationId xmlns:a16="http://schemas.microsoft.com/office/drawing/2014/main" id="{1DEFDC05-F69F-46EA-8C74-B08B7392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2937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Status: dyadic_sls_hackathon.md; background: dyadic_partition_inference.md.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F6C7CC-3CB4-4021-843C-C93F43C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2724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keaway-eyebrow">
            <a:extLst xmlns:a="http://schemas.openxmlformats.org/drawingml/2006/main">
              <a:ext uri="{FF2B5EF4-FFF2-40B4-BE49-F238E27FC236}">
                <a16:creationId xmlns:a16="http://schemas.microsoft.com/office/drawing/2014/main" id="{D131BA70-AEEA-48E7-B4AB-8DDD5BB9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TAKEAWAY</a:t>
            </a:r>
          </a:p>
        </p:txBody>
      </p:sp>
      <p:sp>
        <p:nvSpPr>
          <p:cNvPr id="2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3F026686-466F-4B10-8E13-CF5E5954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106680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0B0D0F"/>
                </a:solidFill>
                <a:latin typeface="Helvetica Neue"/>
                <a:ea typeface="Helvetica Neue"/>
                <a:cs typeface="Helvetica Neue"/>
              </a:defRPr>
            </a:pPr>
            <a:r>
              <a:t>The gain persists at full-week scale;
K remains unstable.</a:t>
            </a:r>
          </a:p>
        </p:txBody>
      </p:sp>
      <p:cxnSp>
        <p:nvCxnSpPr>
          <p:cNvPr id="8" name="takeaway-rule"/>
          <p:cNvCxnSpPr/>
          <p:nvPr/>
        </p:nvCxnSpPr>
        <p:spPr>
          <a:xfrm xmlns:a="http://schemas.openxmlformats.org/drawingml/2006/main">
            <a:off x="390525" y="3876675"/>
            <a:ext cx="11410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</a:ln>
        </p:spPr>
      </p:cxnSp>
      <p:sp>
        <p:nvSpPr>
          <p:cNvPr id="4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51072193-6FA0-4954-84FA-6EDC26C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62450"/>
            <a:ext cx="9906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Next: multi-seed and longer-run robustness, projected covariance, land/sea treatment, and posterior integration.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B871DE-3ACB-4719-846A-8B67A04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57950"/>
            <a:ext cx="4476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3346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2026-07-17T11:19:48.5350000Z</dcterms:created>
  <dcterms:modified xsi:type="dcterms:W3CDTF">2026-07-17T11:19:48.5350000Z</dcterms:modified>
</coreProperties>
</file>